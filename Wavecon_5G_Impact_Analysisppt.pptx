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1" d="100"/>
          <a:sy n="111" d="100"/>
        </p:scale>
        <p:origin x="54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t>10/9/2026</a:t>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t>‹#›</a:t>
            </a:fld>
            <a:endParaRPr lang="en-US"/>
          </a:p>
        </p:txBody>
      </p:sp>
    </p:spTree>
    <p:extLst>
      <p:ext uri="{BB962C8B-B14F-4D97-AF65-F5344CB8AC3E}">
        <p14:creationId xmlns:p14="http://schemas.microsoft.com/office/powerpoint/2010/main" val="21242733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Title slide for the Wavecon Telecom 5G Impact Analysis presentation. Analysis covers 8 months: 4 months before 5G (Jan-Apr) and 4 months after 5G launch (Jun-Sep).</a:t>
            </a:r>
          </a:p>
        </p:txBody>
      </p:sp>
    </p:spTree>
    <p:extLst>
      <p:ext uri="{BB962C8B-B14F-4D97-AF65-F5344CB8AC3E}">
        <p14:creationId xmlns:p14="http://schemas.microsoft.com/office/powerpoint/2010/main" val="1104264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The 5G launch resulted in a marginal revenue decline of -0.50%, from ₹16.0bn (before) to ₹15.9bn (after). Total combined revenue stands at ₹31.9bn across both periods. Monthly average is ₹4.0bn. ARPU is ₹200.7, active users 161.7M, but 12.6M users unsubscribed — a concern.</a:t>
            </a:r>
          </a:p>
        </p:txBody>
      </p:sp>
    </p:spTree>
    <p:extLst>
      <p:ext uri="{BB962C8B-B14F-4D97-AF65-F5344CB8AC3E}">
        <p14:creationId xmlns:p14="http://schemas.microsoft.com/office/powerpoint/2010/main" val="10536797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Revenue before 5G: ₹15,977M. After 5G: ₹15,897M. Net change: -₹80M or -0.50%. The monthly trend shows the After_5G line tracking below Before_5G from March/August onwards. The initial peak in Feb/Jul is due to 5G launch excitement, but it did not sustain.</a:t>
            </a:r>
          </a:p>
        </p:txBody>
      </p:sp>
    </p:spTree>
    <p:extLst>
      <p:ext uri="{BB962C8B-B14F-4D97-AF65-F5344CB8AC3E}">
        <p14:creationId xmlns:p14="http://schemas.microsoft.com/office/powerpoint/2010/main" val="32010550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ARPU at ₹200.7 is the most critical underperforming KPI. Post-5G, ARPU should have risen due to premium plan adoption, but it stayed flat or declined. TUsU of 12.6M is alarming — this is 7.8% of the total active user base (161.7M). Revenue change of -0.50% confirms the underperformance.</a:t>
            </a:r>
          </a:p>
        </p:txBody>
      </p:sp>
    </p:spTree>
    <p:extLst>
      <p:ext uri="{BB962C8B-B14F-4D97-AF65-F5344CB8AC3E}">
        <p14:creationId xmlns:p14="http://schemas.microsoft.com/office/powerpoint/2010/main" val="4526169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After 5G, plans p1, p11, p12, p13 are available. p1 remains the top revenue plan. p11 is a strong new 5G plan. p2 was available both before and after 5G but showed no growth — it became flat. Plans p3, p6, p7 underperform relative to revenue expectations. Plans p8, p9, p10 were discontinued after 5G launch.</a:t>
            </a:r>
          </a:p>
        </p:txBody>
      </p:sp>
    </p:spTree>
    <p:extLst>
      <p:ext uri="{BB962C8B-B14F-4D97-AF65-F5344CB8AC3E}">
        <p14:creationId xmlns:p14="http://schemas.microsoft.com/office/powerpoint/2010/main" val="18760167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Plan p7 suffered the most dramatic revenue collapse after the 5G launch: from ₹146M in April (before 5G) to just ₹33M in June (after 5G) — a 77% drop. This is the clearest example of 5G cannibalising an existing plan. However, partial retention for non-5G areas is recommended.</a:t>
            </a:r>
          </a:p>
        </p:txBody>
      </p:sp>
    </p:spTree>
    <p:extLst>
      <p:ext uri="{BB962C8B-B14F-4D97-AF65-F5344CB8AC3E}">
        <p14:creationId xmlns:p14="http://schemas.microsoft.com/office/powerpoint/2010/main" val="20951937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Plans p8, p9, p10 were present in the Before 5G monthly revenue table (Jan-Apr) but are completely absent from the After 5G monthly revenue table (Jun-Sep). This confirms they were discontinued at the time of 5G launch. Their combined revenue was the weakest in the before-5G portfolio.</a:t>
            </a:r>
          </a:p>
        </p:txBody>
      </p:sp>
    </p:spTree>
    <p:extLst>
      <p:ext uri="{BB962C8B-B14F-4D97-AF65-F5344CB8AC3E}">
        <p14:creationId xmlns:p14="http://schemas.microsoft.com/office/powerpoint/2010/main" val="27024537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8 cities showed revenue gains and 6 cities showed declines. The worst performing cities are Delhi (-2.83%), Chennai (-2.59%), and Ahmedabad (-2.02%). Mumbai remains the highest total revenue city at ₹4,896M. Lucknow at +1.82% is the best performer by Chg%. The City Chg% chart confirms this spread.</a:t>
            </a:r>
          </a:p>
        </p:txBody>
      </p:sp>
    </p:spTree>
    <p:extLst>
      <p:ext uri="{BB962C8B-B14F-4D97-AF65-F5344CB8AC3E}">
        <p14:creationId xmlns:p14="http://schemas.microsoft.com/office/powerpoint/2010/main" val="34639890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Key additional insights: 1) July launch spike followed by plateau - classic launch effect. 2) p2 is completely flat before and after 5G - it serves a price-insensitive 4G segment. 3) Clean portfolio refresh - 3 old plans out, 3 new 5G plans in. 4) 12.6M churned users is a critical risk metric. 5) Tier-2 cities show the best 5G adoption rates.</a:t>
            </a:r>
          </a:p>
        </p:txBody>
      </p:sp>
    </p:spTree>
    <p:extLst>
      <p:ext uri="{BB962C8B-B14F-4D97-AF65-F5344CB8AC3E}">
        <p14:creationId xmlns:p14="http://schemas.microsoft.com/office/powerpoint/2010/main" val="280084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Six strategic recommendations: 1) ARPU boost through 5G upgrades, 2) Win-back campaign for 12.6M churned users, 3) Defend Delhi and Chennai from competitor pressure, 4) Double down on Tier-2 cities showing positive growth, 5) Sunset p7 plan properly with user migration, 6) Accelerate p11 and p12 as the core 5G plan anchors.</a:t>
            </a:r>
          </a:p>
        </p:txBody>
      </p:sp>
    </p:spTree>
    <p:extLst>
      <p:ext uri="{BB962C8B-B14F-4D97-AF65-F5344CB8AC3E}">
        <p14:creationId xmlns:p14="http://schemas.microsoft.com/office/powerpoint/2010/main" val="36467030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Closing slide. Key summary numbers: Revenue -0.50%, ARPU 200.7, 12.6M churned, best plans p1+p11, p7 dropped 77%, p8/p9/p10 discontinued, best city Lucknow +1.82%, worst city Delhi -2.83%.</a:t>
            </a:r>
          </a:p>
        </p:txBody>
      </p:sp>
    </p:spTree>
    <p:extLst>
      <p:ext uri="{BB962C8B-B14F-4D97-AF65-F5344CB8AC3E}">
        <p14:creationId xmlns:p14="http://schemas.microsoft.com/office/powerpoint/2010/main" val="31438809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p:cNvSpPr>
            <a:spLocks noGrp="1"/>
          </p:cNvSpPr>
          <p:nvPr>
            <p:ph type="ctrTitle"/>
          </p:nvPr>
        </p:nvSpPr>
        <p:spPr>
          <a:xfrm>
            <a:off x="685800" y="2130425"/>
            <a:ext cx="7772400" cy="1470025"/>
          </a:xfrm>
        </p:spPr>
        <p:txBody>
          <a:bodyPr/>
          <a:lstStyle/>
          <a:p>
            <a:endParaRPr lang="en-US"/>
          </a:p>
        </p:txBody>
      </p:sp>
      <p:sp>
        <p:nvSpPr>
          <p:cNvPr id="3" name="Subtitle"/>
          <p:cNvSpPr>
            <a:spLocks noGrp="1"/>
          </p:cNvSpPr>
          <p:nvPr>
            <p:ph type="subTitle" idx="1"/>
          </p:nvPr>
        </p:nvSpPr>
        <p:spPr>
          <a:xfrm>
            <a:off x="1371600" y="3886200"/>
            <a:ext cx="6400800" cy="1752600"/>
          </a:xfrm>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Tx">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
        <p:nvSpPr>
          <p:cNvPr id="3" name="Content"/>
          <p:cNvSpPr>
            <a:spLocks noGrp="1"/>
          </p:cNvSpPr>
          <p:nvPr>
            <p:ph type="body" idx="1"/>
          </p:nvPr>
        </p:nvSpPr>
        <p:spPr>
          <a:xfrm>
            <a:off x="838200" y="1825625"/>
            <a:ext cx="10515600" cy="4351338"/>
          </a:xfrm>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wo Content">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
        <p:nvSpPr>
          <p:cNvPr id="3" name="Content Left"/>
          <p:cNvSpPr>
            <a:spLocks noGrp="1"/>
          </p:cNvSpPr>
          <p:nvPr>
            <p:ph type="body" idx="1"/>
          </p:nvPr>
        </p:nvSpPr>
        <p:spPr>
          <a:xfrm>
            <a:off x="838200" y="1825625"/>
            <a:ext cx="5181600" cy="4351338"/>
          </a:xfrm>
        </p:spPr>
        <p:txBody>
          <a:bodyPr/>
          <a:lstStyle/>
          <a:p>
            <a:endParaRPr lang="en-US"/>
          </a:p>
        </p:txBody>
      </p:sp>
      <p:sp>
        <p:nvSpPr>
          <p:cNvPr id="4" name="Content Right"/>
          <p:cNvSpPr>
            <a:spLocks noGrp="1"/>
          </p:cNvSpPr>
          <p:nvPr>
            <p:ph type="body" idx="2"/>
          </p:nvPr>
        </p:nvSpPr>
        <p:spPr>
          <a:xfrm>
            <a:off x="6172200" y="1825625"/>
            <a:ext cx="5181600" cy="4351338"/>
          </a:xfrm>
        </p:spPr>
        <p:txBody>
          <a:body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D1466"/>
        </a:solidFill>
        <a:effectLst/>
      </p:bgPr>
    </p:bg>
    <p:spTree>
      <p:nvGrpSpPr>
        <p:cNvPr id="1" name=""/>
        <p:cNvGrpSpPr/>
        <p:nvPr/>
      </p:nvGrpSpPr>
      <p:grpSpPr>
        <a:xfrm>
          <a:off x="0" y="0"/>
          <a:ext cx="0" cy="0"/>
          <a:chOff x="0" y="0"/>
          <a:chExt cx="0" cy="0"/>
        </a:xfrm>
      </p:grpSpPr>
      <p:sp>
        <p:nvSpPr>
          <p:cNvPr id="100000" name="Tag"/>
          <p:cNvSpPr txBox="1"/>
          <p:nvPr/>
        </p:nvSpPr>
        <p:spPr>
          <a:xfrm>
            <a:off x="1260000" y="720000"/>
            <a:ext cx="9360000" cy="432000"/>
          </a:xfrm>
          <a:prstGeom prst="rect">
            <a:avLst/>
          </a:prstGeom>
          <a:noFill/>
        </p:spPr>
        <p:txBody>
          <a:bodyPr/>
          <a:lstStyle/>
          <a:p>
            <a:pPr algn="ctr"/>
            <a:r>
              <a:rPr lang="en-US" sz="1400" b="1">
                <a:solidFill>
                  <a:srgbClr val="C084FC"/>
                </a:solidFill>
              </a:rPr>
              <a:t>WAVECON TELECOM</a:t>
            </a:r>
          </a:p>
        </p:txBody>
      </p:sp>
      <p:sp>
        <p:nvSpPr>
          <p:cNvPr id="100001" name="MainTitle"/>
          <p:cNvSpPr txBox="1"/>
          <p:nvPr/>
        </p:nvSpPr>
        <p:spPr>
          <a:xfrm>
            <a:off x="360000" y="1260000"/>
            <a:ext cx="11160000" cy="1080000"/>
          </a:xfrm>
          <a:prstGeom prst="rect">
            <a:avLst/>
          </a:prstGeom>
          <a:noFill/>
        </p:spPr>
        <p:txBody>
          <a:bodyPr/>
          <a:lstStyle/>
          <a:p>
            <a:pPr algn="ctr"/>
            <a:r>
              <a:rPr lang="en-US" sz="4400" b="1">
                <a:solidFill>
                  <a:srgbClr val="FFFFFF"/>
                </a:solidFill>
              </a:rPr>
              <a:t>5G Launch Impact Analysis</a:t>
            </a:r>
          </a:p>
        </p:txBody>
      </p:sp>
      <p:sp>
        <p:nvSpPr>
          <p:cNvPr id="100002" name="Subtitle"/>
          <p:cNvSpPr txBox="1"/>
          <p:nvPr/>
        </p:nvSpPr>
        <p:spPr>
          <a:xfrm>
            <a:off x="720000" y="2520000"/>
            <a:ext cx="10440000" cy="540000"/>
          </a:xfrm>
          <a:prstGeom prst="rect">
            <a:avLst/>
          </a:prstGeom>
          <a:noFill/>
        </p:spPr>
        <p:txBody>
          <a:bodyPr/>
          <a:lstStyle/>
          <a:p>
            <a:pPr algn="ctr"/>
            <a:r>
              <a:rPr lang="en-US" sz="2200" b="0">
                <a:solidFill>
                  <a:srgbClr val="C084FC"/>
                </a:solidFill>
              </a:rPr>
              <a:t>Revenue, KPI &amp; Plan Performance — Before vs. After 5G</a:t>
            </a:r>
          </a:p>
        </p:txBody>
      </p:sp>
      <p:sp>
        <p:nvSpPr>
          <p:cNvPr id="100003" name="Period"/>
          <p:cNvSpPr txBox="1"/>
          <p:nvPr/>
        </p:nvSpPr>
        <p:spPr>
          <a:xfrm>
            <a:off x="720000" y="3240000"/>
            <a:ext cx="10440000" cy="360000"/>
          </a:xfrm>
          <a:prstGeom prst="rect">
            <a:avLst/>
          </a:prstGeom>
          <a:noFill/>
        </p:spPr>
        <p:txBody>
          <a:bodyPr/>
          <a:lstStyle/>
          <a:p>
            <a:pPr algn="ctr"/>
            <a:r>
              <a:rPr lang="en-US" sz="1400" b="0">
                <a:solidFill>
                  <a:srgbClr val="A78BFA"/>
                </a:solidFill>
              </a:rPr>
              <a:t>Analysis Period: January–April (Before 5G)  |  June–September (After 5G)</a:t>
            </a:r>
          </a:p>
        </p:txBody>
      </p:sp>
      <p:sp>
        <p:nvSpPr>
          <p:cNvPr id="100004" name="Divider"/>
          <p:cNvSpPr txBox="1"/>
          <p:nvPr/>
        </p:nvSpPr>
        <p:spPr>
          <a:xfrm>
            <a:off x="1800000" y="3780000"/>
            <a:ext cx="8280000" cy="36000"/>
          </a:xfrm>
          <a:prstGeom prst="rect">
            <a:avLst/>
          </a:prstGeom>
          <a:solidFill>
            <a:srgbClr val="C084FC"/>
          </a:solidFill>
        </p:spPr>
        <p:txBody>
          <a:bodyPr/>
          <a:lstStyle/>
          <a:p>
            <a:endParaRPr lang="en-US" sz="1000">
              <a:solidFill>
                <a:srgbClr val="C084FC"/>
              </a:solidFill>
            </a:endParaRPr>
          </a:p>
        </p:txBody>
      </p:sp>
      <p:sp>
        <p:nvSpPr>
          <p:cNvPr id="100005" name="Footer"/>
          <p:cNvSpPr txBox="1"/>
          <p:nvPr/>
        </p:nvSpPr>
        <p:spPr>
          <a:xfrm>
            <a:off x="720000" y="6300000"/>
            <a:ext cx="10440000" cy="288000"/>
          </a:xfrm>
          <a:prstGeom prst="rect">
            <a:avLst/>
          </a:prstGeom>
          <a:noFill/>
        </p:spPr>
        <p:txBody>
          <a:bodyPr/>
          <a:lstStyle/>
          <a:p>
            <a:pPr algn="ctr"/>
            <a:r>
              <a:rPr lang="en-US" sz="1100">
                <a:solidFill>
                  <a:srgbClr val="9CA3AF"/>
                </a:solidFill>
              </a:rPr>
              <a:t>Confidential  |  Wavecon Telecom Business Intelligence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06" name="HeaderBG"/>
          <p:cNvSpPr txBox="1"/>
          <p:nvPr/>
        </p:nvSpPr>
        <p:spPr>
          <a:xfrm>
            <a:off x="0" y="0"/>
            <a:ext cx="12193200" cy="1152000"/>
          </a:xfrm>
          <a:prstGeom prst="rect">
            <a:avLst/>
          </a:prstGeom>
          <a:solidFill>
            <a:srgbClr val="3D1466"/>
          </a:solidFill>
        </p:spPr>
        <p:txBody>
          <a:bodyPr/>
          <a:lstStyle/>
          <a:p>
            <a:endParaRPr lang="en-US" sz="1000">
              <a:solidFill>
                <a:srgbClr val="3D1466"/>
              </a:solidFill>
            </a:endParaRPr>
          </a:p>
        </p:txBody>
      </p:sp>
      <p:sp>
        <p:nvSpPr>
          <p:cNvPr id="100007" name="SlideNum"/>
          <p:cNvSpPr txBox="1"/>
          <p:nvPr/>
        </p:nvSpPr>
        <p:spPr>
          <a:xfrm>
            <a:off x="288000" y="288000"/>
            <a:ext cx="720000" cy="540000"/>
          </a:xfrm>
          <a:prstGeom prst="rect">
            <a:avLst/>
          </a:prstGeom>
          <a:noFill/>
        </p:spPr>
        <p:txBody>
          <a:bodyPr/>
          <a:lstStyle/>
          <a:p>
            <a:r>
              <a:rPr lang="en-US" sz="2800" b="1">
                <a:solidFill>
                  <a:srgbClr val="C084FC"/>
                </a:solidFill>
              </a:rPr>
              <a:t>01</a:t>
            </a:r>
          </a:p>
        </p:txBody>
      </p:sp>
      <p:sp>
        <p:nvSpPr>
          <p:cNvPr id="100008" name="Title"/>
          <p:cNvSpPr txBox="1"/>
          <p:nvPr/>
        </p:nvSpPr>
        <p:spPr>
          <a:xfrm>
            <a:off x="1260000" y="252000"/>
            <a:ext cx="7920000" cy="648000"/>
          </a:xfrm>
          <a:prstGeom prst="rect">
            <a:avLst/>
          </a:prstGeom>
          <a:noFill/>
        </p:spPr>
        <p:txBody>
          <a:bodyPr/>
          <a:lstStyle/>
          <a:p>
            <a:r>
              <a:rPr lang="en-US" sz="3000" b="1">
                <a:solidFill>
                  <a:srgbClr val="FFFFFF"/>
                </a:solidFill>
              </a:rPr>
              <a:t>Executive Summary</a:t>
            </a:r>
          </a:p>
        </p:txBody>
      </p:sp>
      <p:sp>
        <p:nvSpPr>
          <p:cNvPr id="100009" name="Subtitle"/>
          <p:cNvSpPr txBox="1"/>
          <p:nvPr/>
        </p:nvSpPr>
        <p:spPr>
          <a:xfrm>
            <a:off x="1260000" y="792000"/>
            <a:ext cx="7920000" cy="324000"/>
          </a:xfrm>
          <a:prstGeom prst="rect">
            <a:avLst/>
          </a:prstGeom>
          <a:noFill/>
        </p:spPr>
        <p:txBody>
          <a:bodyPr/>
          <a:lstStyle/>
          <a:p>
            <a:r>
              <a:rPr lang="en-US" sz="1400" b="0">
                <a:solidFill>
                  <a:srgbClr val="C084FC"/>
                </a:solidFill>
              </a:rPr>
              <a:t>Overall 5G Launch Impact at a Glance</a:t>
            </a:r>
          </a:p>
        </p:txBody>
      </p:sp>
      <p:sp>
        <p:nvSpPr>
          <p:cNvPr id="100010" name="KPI1Box"/>
          <p:cNvSpPr txBox="1"/>
          <p:nvPr/>
        </p:nvSpPr>
        <p:spPr>
          <a:xfrm>
            <a:off x="288000" y="1440000"/>
            <a:ext cx="2520000" cy="1260000"/>
          </a:xfrm>
          <a:prstGeom prst="rect">
            <a:avLst/>
          </a:prstGeom>
          <a:solidFill>
            <a:srgbClr val="EDE9FE"/>
          </a:solidFill>
        </p:spPr>
        <p:txBody>
          <a:bodyPr/>
          <a:lstStyle/>
          <a:p>
            <a:pPr algn="ctr"/>
            <a:r>
              <a:rPr lang="en-US" sz="2200" b="1">
                <a:solidFill>
                  <a:srgbClr val="3D1466"/>
                </a:solidFill>
              </a:rPr>
              <a:t>₹31.9bn</a:t>
            </a:r>
          </a:p>
          <a:p>
            <a:pPr algn="ctr"/>
            <a:r>
              <a:rPr lang="en-US" sz="2200" b="1">
                <a:solidFill>
                  <a:srgbClr val="3D1466"/>
                </a:solidFill>
              </a:rPr>
              <a:t>Total Revenue</a:t>
            </a:r>
          </a:p>
        </p:txBody>
      </p:sp>
      <p:sp>
        <p:nvSpPr>
          <p:cNvPr id="100011" name="KPI2Box"/>
          <p:cNvSpPr txBox="1"/>
          <p:nvPr/>
        </p:nvSpPr>
        <p:spPr>
          <a:xfrm>
            <a:off x="3060000" y="1440000"/>
            <a:ext cx="2520000" cy="1260000"/>
          </a:xfrm>
          <a:prstGeom prst="rect">
            <a:avLst/>
          </a:prstGeom>
          <a:solidFill>
            <a:srgbClr val="EDE9FE"/>
          </a:solidFill>
        </p:spPr>
        <p:txBody>
          <a:bodyPr/>
          <a:lstStyle/>
          <a:p>
            <a:pPr algn="ctr"/>
            <a:r>
              <a:rPr lang="en-US" sz="2200" b="1">
                <a:solidFill>
                  <a:srgbClr val="3D1466"/>
                </a:solidFill>
              </a:rPr>
              <a:t>₹200.7</a:t>
            </a:r>
          </a:p>
          <a:p>
            <a:pPr algn="ctr"/>
            <a:r>
              <a:rPr lang="en-US" sz="2200" b="1">
                <a:solidFill>
                  <a:srgbClr val="3D1466"/>
                </a:solidFill>
              </a:rPr>
              <a:t>ARPU</a:t>
            </a:r>
          </a:p>
        </p:txBody>
      </p:sp>
      <p:sp>
        <p:nvSpPr>
          <p:cNvPr id="100012" name="KPI3Box"/>
          <p:cNvSpPr txBox="1"/>
          <p:nvPr/>
        </p:nvSpPr>
        <p:spPr>
          <a:xfrm>
            <a:off x="5832000" y="1440000"/>
            <a:ext cx="2700000" cy="1260000"/>
          </a:xfrm>
          <a:prstGeom prst="rect">
            <a:avLst/>
          </a:prstGeom>
          <a:solidFill>
            <a:srgbClr val="EDE9FE"/>
          </a:solidFill>
        </p:spPr>
        <p:txBody>
          <a:bodyPr/>
          <a:lstStyle/>
          <a:p>
            <a:pPr algn="ctr"/>
            <a:r>
              <a:rPr lang="en-US" sz="2200" b="1">
                <a:solidFill>
                  <a:srgbClr val="3D1466"/>
                </a:solidFill>
              </a:rPr>
              <a:t>161.7M</a:t>
            </a:r>
          </a:p>
          <a:p>
            <a:pPr algn="ctr"/>
            <a:r>
              <a:rPr lang="en-US" sz="2200" b="1">
                <a:solidFill>
                  <a:srgbClr val="3D1466"/>
                </a:solidFill>
              </a:rPr>
              <a:t>Total Active Users</a:t>
            </a:r>
          </a:p>
        </p:txBody>
      </p:sp>
      <p:sp>
        <p:nvSpPr>
          <p:cNvPr id="100013" name="KPI4Box"/>
          <p:cNvSpPr txBox="1"/>
          <p:nvPr/>
        </p:nvSpPr>
        <p:spPr>
          <a:xfrm>
            <a:off x="8820000" y="1440000"/>
            <a:ext cx="2952000" cy="1260000"/>
          </a:xfrm>
          <a:prstGeom prst="rect">
            <a:avLst/>
          </a:prstGeom>
          <a:solidFill>
            <a:srgbClr val="7C3AED"/>
          </a:solidFill>
        </p:spPr>
        <p:txBody>
          <a:bodyPr/>
          <a:lstStyle/>
          <a:p>
            <a:pPr algn="ctr"/>
            <a:r>
              <a:rPr lang="en-US" sz="2200" b="1">
                <a:solidFill>
                  <a:srgbClr val="FFFFFF"/>
                </a:solidFill>
              </a:rPr>
              <a:t>12.6M</a:t>
            </a:r>
          </a:p>
          <a:p>
            <a:pPr algn="ctr"/>
            <a:r>
              <a:rPr lang="en-US" sz="2200" b="1">
                <a:solidFill>
                  <a:srgbClr val="FFFFFF"/>
                </a:solidFill>
              </a:rPr>
              <a:t>Unsubscribed Users</a:t>
            </a:r>
          </a:p>
        </p:txBody>
      </p:sp>
      <p:sp>
        <p:nvSpPr>
          <p:cNvPr id="100014" name="CompareTitle"/>
          <p:cNvSpPr txBox="1"/>
          <p:nvPr/>
        </p:nvSpPr>
        <p:spPr>
          <a:xfrm>
            <a:off x="288000" y="2952000"/>
            <a:ext cx="11520000" cy="288000"/>
          </a:xfrm>
          <a:prstGeom prst="rect">
            <a:avLst/>
          </a:prstGeom>
          <a:noFill/>
        </p:spPr>
        <p:txBody>
          <a:bodyPr/>
          <a:lstStyle/>
          <a:p>
            <a:r>
              <a:rPr lang="en-US" sz="1600" b="1">
                <a:solidFill>
                  <a:srgbClr val="3D1466"/>
                </a:solidFill>
              </a:rPr>
              <a:t>Before vs. After 5G — Revenue Comparison</a:t>
            </a:r>
          </a:p>
        </p:txBody>
      </p:sp>
      <p:sp>
        <p:nvSpPr>
          <p:cNvPr id="100015" name="Before5G"/>
          <p:cNvSpPr txBox="1"/>
          <p:nvPr/>
        </p:nvSpPr>
        <p:spPr>
          <a:xfrm>
            <a:off x="288000" y="3312000"/>
            <a:ext cx="3600000" cy="1260000"/>
          </a:xfrm>
          <a:prstGeom prst="rect">
            <a:avLst/>
          </a:prstGeom>
          <a:solidFill>
            <a:srgbClr val="7C3AED"/>
          </a:solidFill>
        </p:spPr>
        <p:txBody>
          <a:bodyPr/>
          <a:lstStyle/>
          <a:p>
            <a:pPr algn="ctr"/>
            <a:r>
              <a:rPr lang="en-US" sz="2000" b="1">
                <a:solidFill>
                  <a:srgbClr val="FFFFFF"/>
                </a:solidFill>
              </a:rPr>
              <a:t>₹16.0bn</a:t>
            </a:r>
          </a:p>
          <a:p>
            <a:pPr algn="ctr"/>
            <a:r>
              <a:rPr lang="en-US" sz="2000" b="1">
                <a:solidFill>
                  <a:srgbClr val="FFFFFF"/>
                </a:solidFill>
              </a:rPr>
              <a:t>Before 5G Revenue</a:t>
            </a:r>
          </a:p>
          <a:p>
            <a:pPr algn="ctr"/>
            <a:r>
              <a:rPr lang="en-US" sz="2000" b="1">
                <a:solidFill>
                  <a:srgbClr val="FFFFFF"/>
                </a:solidFill>
              </a:rPr>
              <a:t>(Jan–Apr)</a:t>
            </a:r>
          </a:p>
        </p:txBody>
      </p:sp>
      <p:sp>
        <p:nvSpPr>
          <p:cNvPr id="100016" name="Arrow"/>
          <p:cNvSpPr txBox="1"/>
          <p:nvPr/>
        </p:nvSpPr>
        <p:spPr>
          <a:xfrm>
            <a:off x="4068000" y="3672000"/>
            <a:ext cx="720000" cy="540000"/>
          </a:xfrm>
          <a:prstGeom prst="rect">
            <a:avLst/>
          </a:prstGeom>
          <a:noFill/>
        </p:spPr>
        <p:txBody>
          <a:bodyPr/>
          <a:lstStyle/>
          <a:p>
            <a:pPr algn="ctr"/>
            <a:r>
              <a:rPr lang="en-US" sz="2800" b="1">
                <a:solidFill>
                  <a:srgbClr val="9CA3AF"/>
                </a:solidFill>
              </a:rPr>
              <a:t>▶</a:t>
            </a:r>
          </a:p>
        </p:txBody>
      </p:sp>
      <p:sp>
        <p:nvSpPr>
          <p:cNvPr id="100017" name="After5G"/>
          <p:cNvSpPr txBox="1"/>
          <p:nvPr/>
        </p:nvSpPr>
        <p:spPr>
          <a:xfrm>
            <a:off x="4968000" y="3312000"/>
            <a:ext cx="3600000" cy="1260000"/>
          </a:xfrm>
          <a:prstGeom prst="rect">
            <a:avLst/>
          </a:prstGeom>
          <a:solidFill>
            <a:srgbClr val="6D28D9"/>
          </a:solidFill>
        </p:spPr>
        <p:txBody>
          <a:bodyPr/>
          <a:lstStyle/>
          <a:p>
            <a:pPr algn="ctr"/>
            <a:r>
              <a:rPr lang="en-US" sz="2000" b="1">
                <a:solidFill>
                  <a:srgbClr val="FFFFFF"/>
                </a:solidFill>
              </a:rPr>
              <a:t>₹15.9bn</a:t>
            </a:r>
          </a:p>
          <a:p>
            <a:pPr algn="ctr"/>
            <a:r>
              <a:rPr lang="en-US" sz="2000" b="1">
                <a:solidFill>
                  <a:srgbClr val="FFFFFF"/>
                </a:solidFill>
              </a:rPr>
              <a:t>After 5G Revenue</a:t>
            </a:r>
          </a:p>
          <a:p>
            <a:pPr algn="ctr"/>
            <a:r>
              <a:rPr lang="en-US" sz="2000" b="1">
                <a:solidFill>
                  <a:srgbClr val="FFFFFF"/>
                </a:solidFill>
              </a:rPr>
              <a:t>(Jun–Sep)</a:t>
            </a:r>
          </a:p>
        </p:txBody>
      </p:sp>
      <p:sp>
        <p:nvSpPr>
          <p:cNvPr id="100018" name="ChgBox"/>
          <p:cNvSpPr txBox="1"/>
          <p:nvPr/>
        </p:nvSpPr>
        <p:spPr>
          <a:xfrm>
            <a:off x="9000000" y="3312000"/>
            <a:ext cx="2700000" cy="1260000"/>
          </a:xfrm>
          <a:prstGeom prst="rect">
            <a:avLst/>
          </a:prstGeom>
          <a:solidFill>
            <a:srgbClr val="DC2626"/>
          </a:solidFill>
        </p:spPr>
        <p:txBody>
          <a:bodyPr/>
          <a:lstStyle/>
          <a:p>
            <a:pPr algn="ctr"/>
            <a:r>
              <a:rPr lang="en-US" sz="2000" b="1">
                <a:solidFill>
                  <a:srgbClr val="FFFFFF"/>
                </a:solidFill>
              </a:rPr>
              <a:t>-0.50%</a:t>
            </a:r>
          </a:p>
          <a:p>
            <a:pPr algn="ctr"/>
            <a:r>
              <a:rPr lang="en-US" sz="2000" b="1">
                <a:solidFill>
                  <a:srgbClr val="FFFFFF"/>
                </a:solidFill>
              </a:rPr>
              <a:t>Revenue Change</a:t>
            </a:r>
          </a:p>
        </p:txBody>
      </p:sp>
      <p:sp>
        <p:nvSpPr>
          <p:cNvPr id="100019" name="MABox"/>
          <p:cNvSpPr txBox="1"/>
          <p:nvPr/>
        </p:nvSpPr>
        <p:spPr>
          <a:xfrm>
            <a:off x="288000" y="4752000"/>
            <a:ext cx="11520000" cy="432000"/>
          </a:xfrm>
          <a:prstGeom prst="rect">
            <a:avLst/>
          </a:prstGeom>
          <a:solidFill>
            <a:srgbClr val="4C1D95"/>
          </a:solidFill>
        </p:spPr>
        <p:txBody>
          <a:bodyPr/>
          <a:lstStyle/>
          <a:p>
            <a:pPr algn="ctr"/>
            <a:r>
              <a:rPr lang="en-US" sz="1500" b="1">
                <a:solidFill>
                  <a:srgbClr val="FFFFFF"/>
                </a:solidFill>
              </a:rPr>
              <a:t>₹4.0bn — Monthly Average Revenue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20" name="HeaderBG"/>
          <p:cNvSpPr txBox="1"/>
          <p:nvPr/>
        </p:nvSpPr>
        <p:spPr>
          <a:xfrm>
            <a:off x="0" y="0"/>
            <a:ext cx="12193200" cy="1152000"/>
          </a:xfrm>
          <a:prstGeom prst="rect">
            <a:avLst/>
          </a:prstGeom>
          <a:solidFill>
            <a:srgbClr val="3D1466"/>
          </a:solidFill>
        </p:spPr>
        <p:txBody>
          <a:bodyPr/>
          <a:lstStyle/>
          <a:p>
            <a:endParaRPr lang="en-US" sz="1000">
              <a:solidFill>
                <a:srgbClr val="3D1466"/>
              </a:solidFill>
            </a:endParaRPr>
          </a:p>
        </p:txBody>
      </p:sp>
      <p:sp>
        <p:nvSpPr>
          <p:cNvPr id="100021" name="SlideNum"/>
          <p:cNvSpPr txBox="1"/>
          <p:nvPr/>
        </p:nvSpPr>
        <p:spPr>
          <a:xfrm>
            <a:off x="288000" y="288000"/>
            <a:ext cx="720000" cy="540000"/>
          </a:xfrm>
          <a:prstGeom prst="rect">
            <a:avLst/>
          </a:prstGeom>
          <a:noFill/>
        </p:spPr>
        <p:txBody>
          <a:bodyPr/>
          <a:lstStyle/>
          <a:p>
            <a:r>
              <a:rPr lang="en-US" sz="2800" b="1">
                <a:solidFill>
                  <a:srgbClr val="C084FC"/>
                </a:solidFill>
              </a:rPr>
              <a:t>02</a:t>
            </a:r>
          </a:p>
        </p:txBody>
      </p:sp>
      <p:sp>
        <p:nvSpPr>
          <p:cNvPr id="100022" name="Title"/>
          <p:cNvSpPr txBox="1"/>
          <p:nvPr/>
        </p:nvSpPr>
        <p:spPr>
          <a:xfrm>
            <a:off x="1260000" y="252000"/>
            <a:ext cx="9360000" cy="648000"/>
          </a:xfrm>
          <a:prstGeom prst="rect">
            <a:avLst/>
          </a:prstGeom>
          <a:noFill/>
        </p:spPr>
        <p:txBody>
          <a:bodyPr/>
          <a:lstStyle/>
          <a:p>
            <a:r>
              <a:rPr lang="en-US" sz="3000" b="1">
                <a:solidFill>
                  <a:srgbClr val="FFFFFF"/>
                </a:solidFill>
              </a:rPr>
              <a:t>Impact of 5G Launch on Revenue</a:t>
            </a:r>
          </a:p>
        </p:txBody>
      </p:sp>
      <p:sp>
        <p:nvSpPr>
          <p:cNvPr id="100023" name="Subtitle"/>
          <p:cNvSpPr txBox="1"/>
          <p:nvPr/>
        </p:nvSpPr>
        <p:spPr>
          <a:xfrm>
            <a:off x="1260000" y="792000"/>
            <a:ext cx="9360000" cy="324000"/>
          </a:xfrm>
          <a:prstGeom prst="rect">
            <a:avLst/>
          </a:prstGeom>
          <a:noFill/>
        </p:spPr>
        <p:txBody>
          <a:bodyPr/>
          <a:lstStyle/>
          <a:p>
            <a:r>
              <a:rPr lang="en-US" sz="1400" b="0">
                <a:solidFill>
                  <a:srgbClr val="C084FC"/>
                </a:solidFill>
              </a:rPr>
              <a:t>Revenue declined marginally — deeper trends reveal the full picture</a:t>
            </a:r>
          </a:p>
        </p:txBody>
      </p:sp>
      <p:sp>
        <p:nvSpPr>
          <p:cNvPr id="100024" name="InsightHeading"/>
          <p:cNvSpPr txBox="1"/>
          <p:nvPr/>
        </p:nvSpPr>
        <p:spPr>
          <a:xfrm>
            <a:off x="288000" y="1368000"/>
            <a:ext cx="5580000" cy="288000"/>
          </a:xfrm>
          <a:prstGeom prst="rect">
            <a:avLst/>
          </a:prstGeom>
          <a:noFill/>
        </p:spPr>
        <p:txBody>
          <a:bodyPr/>
          <a:lstStyle/>
          <a:p>
            <a:r>
              <a:rPr lang="en-US" sz="1600" b="1">
                <a:solidFill>
                  <a:srgbClr val="3D1466"/>
                </a:solidFill>
              </a:rPr>
              <a:t>Key Findings</a:t>
            </a:r>
          </a:p>
        </p:txBody>
      </p:sp>
      <p:sp>
        <p:nvSpPr>
          <p:cNvPr id="100025" name="Finding1"/>
          <p:cNvSpPr txBox="1"/>
          <p:nvPr/>
        </p:nvSpPr>
        <p:spPr>
          <a:xfrm>
            <a:off x="288000" y="1692000"/>
            <a:ext cx="5580000" cy="648000"/>
          </a:xfrm>
          <a:prstGeom prst="rect">
            <a:avLst/>
          </a:prstGeom>
          <a:solidFill>
            <a:srgbClr val="F5F3FF"/>
          </a:solidFill>
        </p:spPr>
        <p:txBody>
          <a:bodyPr/>
          <a:lstStyle/>
          <a:p>
            <a:r>
              <a:rPr lang="en-US" sz="1300" b="0">
                <a:solidFill>
                  <a:srgbClr val="1F2937"/>
                </a:solidFill>
              </a:rPr>
              <a:t>📉  Revenue dropped by ₹80M (−0.50%) after the 5G launch.</a:t>
            </a:r>
          </a:p>
          <a:p>
            <a:r>
              <a:rPr lang="en-US" sz="1300" b="0">
                <a:solidFill>
                  <a:srgbClr val="1F2937"/>
                </a:solidFill>
              </a:rPr>
              <a:t>Before 5G: ₹15,977M  →  After 5G: ₹15,897M</a:t>
            </a:r>
          </a:p>
        </p:txBody>
      </p:sp>
      <p:sp>
        <p:nvSpPr>
          <p:cNvPr id="100026" name="Finding2"/>
          <p:cNvSpPr txBox="1"/>
          <p:nvPr/>
        </p:nvSpPr>
        <p:spPr>
          <a:xfrm>
            <a:off x="288000" y="2412000"/>
            <a:ext cx="5580000" cy="648000"/>
          </a:xfrm>
          <a:prstGeom prst="rect">
            <a:avLst/>
          </a:prstGeom>
          <a:solidFill>
            <a:srgbClr val="F5F3FF"/>
          </a:solidFill>
        </p:spPr>
        <p:txBody>
          <a:bodyPr/>
          <a:lstStyle/>
          <a:p>
            <a:r>
              <a:rPr lang="en-US" sz="1300" b="0">
                <a:solidFill>
                  <a:srgbClr val="1F2937"/>
                </a:solidFill>
              </a:rPr>
              <a:t>📈  Monthly trend shows a peak in Feb/Jul (~₹4.3bn) followed by gradual stabilization around ₹3.9–4.0bn in subsequent months.</a:t>
            </a:r>
          </a:p>
        </p:txBody>
      </p:sp>
      <p:sp>
        <p:nvSpPr>
          <p:cNvPr id="100027" name="Finding3"/>
          <p:cNvSpPr txBox="1"/>
          <p:nvPr/>
        </p:nvSpPr>
        <p:spPr>
          <a:xfrm>
            <a:off x="288000" y="3132000"/>
            <a:ext cx="5580000" cy="720000"/>
          </a:xfrm>
          <a:prstGeom prst="rect">
            <a:avLst/>
          </a:prstGeom>
          <a:solidFill>
            <a:srgbClr val="F5F3FF"/>
          </a:solidFill>
        </p:spPr>
        <p:txBody>
          <a:bodyPr/>
          <a:lstStyle/>
          <a:p>
            <a:r>
              <a:rPr lang="en-US" sz="1300" b="0">
                <a:solidFill>
                  <a:srgbClr val="1F2937"/>
                </a:solidFill>
              </a:rPr>
              <a:t>⚠️  After 5G, the After_5G revenue line consistently tracks below the Before_5G line from Mar/Aug onward — indicating fading post-launch momentum.</a:t>
            </a:r>
          </a:p>
        </p:txBody>
      </p:sp>
      <p:sp>
        <p:nvSpPr>
          <p:cNvPr id="100028" name="Finding4"/>
          <p:cNvSpPr txBox="1"/>
          <p:nvPr/>
        </p:nvSpPr>
        <p:spPr>
          <a:xfrm>
            <a:off x="288000" y="3924000"/>
            <a:ext cx="5580000" cy="720000"/>
          </a:xfrm>
          <a:prstGeom prst="rect">
            <a:avLst/>
          </a:prstGeom>
          <a:solidFill>
            <a:srgbClr val="F5F3FF"/>
          </a:solidFill>
        </p:spPr>
        <p:txBody>
          <a:bodyPr/>
          <a:lstStyle/>
          <a:p>
            <a:r>
              <a:rPr lang="en-US" sz="1300" b="0">
                <a:solidFill>
                  <a:srgbClr val="1F2937"/>
                </a:solidFill>
              </a:rPr>
              <a:t>🔑  The -0.50% Chg% is a blended average masking city-level winners and losers — cities like Delhi (−2.83%) and Chennai (−2.59%) are significant drags.</a:t>
            </a:r>
          </a:p>
        </p:txBody>
      </p:sp>
      <p:sp>
        <p:nvSpPr>
          <p:cNvPr id="100029" name="TrendTitle"/>
          <p:cNvSpPr txBox="1"/>
          <p:nvPr/>
        </p:nvSpPr>
        <p:spPr>
          <a:xfrm>
            <a:off x="6300000" y="1368000"/>
            <a:ext cx="5580000" cy="288000"/>
          </a:xfrm>
          <a:prstGeom prst="rect">
            <a:avLst/>
          </a:prstGeom>
          <a:noFill/>
        </p:spPr>
        <p:txBody>
          <a:bodyPr/>
          <a:lstStyle/>
          <a:p>
            <a:r>
              <a:rPr lang="en-US" sz="1600" b="1">
                <a:solidFill>
                  <a:srgbClr val="3D1466"/>
                </a:solidFill>
              </a:rPr>
              <a:t>Monthly Revenue Trend (₹bn)</a:t>
            </a:r>
          </a:p>
        </p:txBody>
      </p:sp>
      <p:sp>
        <p:nvSpPr>
          <p:cNvPr id="100030" name="MonthLabel"/>
          <p:cNvSpPr txBox="1"/>
          <p:nvPr/>
        </p:nvSpPr>
        <p:spPr>
          <a:xfrm>
            <a:off x="6480000" y="4500000"/>
            <a:ext cx="1080000" cy="216000"/>
          </a:xfrm>
          <a:prstGeom prst="rect">
            <a:avLst/>
          </a:prstGeom>
          <a:noFill/>
        </p:spPr>
        <p:txBody>
          <a:bodyPr/>
          <a:lstStyle/>
          <a:p>
            <a:r>
              <a:rPr lang="en-US" sz="1100">
                <a:solidFill>
                  <a:srgbClr val="6B7280"/>
                </a:solidFill>
              </a:rPr>
              <a:t>Jan/Jun</a:t>
            </a:r>
          </a:p>
        </p:txBody>
      </p:sp>
      <p:sp>
        <p:nvSpPr>
          <p:cNvPr id="100031" name="MonthLabel2"/>
          <p:cNvSpPr txBox="1"/>
          <p:nvPr/>
        </p:nvSpPr>
        <p:spPr>
          <a:xfrm>
            <a:off x="7560000" y="4500000"/>
            <a:ext cx="1080000" cy="216000"/>
          </a:xfrm>
          <a:prstGeom prst="rect">
            <a:avLst/>
          </a:prstGeom>
          <a:noFill/>
        </p:spPr>
        <p:txBody>
          <a:bodyPr/>
          <a:lstStyle/>
          <a:p>
            <a:r>
              <a:rPr lang="en-US" sz="1100">
                <a:solidFill>
                  <a:srgbClr val="6B7280"/>
                </a:solidFill>
              </a:rPr>
              <a:t>Feb/Jul</a:t>
            </a:r>
          </a:p>
        </p:txBody>
      </p:sp>
      <p:sp>
        <p:nvSpPr>
          <p:cNvPr id="100032" name="MonthLabel3"/>
          <p:cNvSpPr txBox="1"/>
          <p:nvPr/>
        </p:nvSpPr>
        <p:spPr>
          <a:xfrm>
            <a:off x="9000000" y="4500000"/>
            <a:ext cx="1080000" cy="216000"/>
          </a:xfrm>
          <a:prstGeom prst="rect">
            <a:avLst/>
          </a:prstGeom>
          <a:noFill/>
        </p:spPr>
        <p:txBody>
          <a:bodyPr/>
          <a:lstStyle/>
          <a:p>
            <a:r>
              <a:rPr lang="en-US" sz="1100">
                <a:solidFill>
                  <a:srgbClr val="6B7280"/>
                </a:solidFill>
              </a:rPr>
              <a:t>Mar/Aug</a:t>
            </a:r>
          </a:p>
        </p:txBody>
      </p:sp>
      <p:sp>
        <p:nvSpPr>
          <p:cNvPr id="100033" name="MonthLabel4"/>
          <p:cNvSpPr txBox="1"/>
          <p:nvPr/>
        </p:nvSpPr>
        <p:spPr>
          <a:xfrm>
            <a:off x="10440000" y="4500000"/>
            <a:ext cx="1080000" cy="216000"/>
          </a:xfrm>
          <a:prstGeom prst="rect">
            <a:avLst/>
          </a:prstGeom>
          <a:noFill/>
        </p:spPr>
        <p:txBody>
          <a:bodyPr/>
          <a:lstStyle/>
          <a:p>
            <a:r>
              <a:rPr lang="en-US" sz="1100">
                <a:solidFill>
                  <a:srgbClr val="6B7280"/>
                </a:solidFill>
              </a:rPr>
              <a:t>Apr/Sep</a:t>
            </a:r>
          </a:p>
        </p:txBody>
      </p:sp>
      <p:sp>
        <p:nvSpPr>
          <p:cNvPr id="100034" name="BarBefore1"/>
          <p:cNvSpPr txBox="1"/>
          <p:nvPr/>
        </p:nvSpPr>
        <p:spPr>
          <a:xfrm>
            <a:off x="6552000" y="3672000"/>
            <a:ext cx="432000" cy="720000"/>
          </a:xfrm>
          <a:prstGeom prst="rect">
            <a:avLst/>
          </a:prstGeom>
          <a:solidFill>
            <a:srgbClr val="7C3AED"/>
          </a:solidFill>
        </p:spPr>
        <p:txBody>
          <a:bodyPr/>
          <a:lstStyle/>
          <a:p>
            <a:pPr algn="ctr"/>
            <a:r>
              <a:rPr lang="en-US" sz="1000" b="1">
                <a:solidFill>
                  <a:srgbClr val="FFFFFF"/>
                </a:solidFill>
              </a:rPr>
              <a:t>3.4</a:t>
            </a:r>
          </a:p>
        </p:txBody>
      </p:sp>
      <p:sp>
        <p:nvSpPr>
          <p:cNvPr id="100035" name="BarAfter1"/>
          <p:cNvSpPr txBox="1"/>
          <p:nvPr/>
        </p:nvSpPr>
        <p:spPr>
          <a:xfrm>
            <a:off x="7020000" y="3744000"/>
            <a:ext cx="432000" cy="648000"/>
          </a:xfrm>
          <a:prstGeom prst="rect">
            <a:avLst/>
          </a:prstGeom>
          <a:solidFill>
            <a:srgbClr val="A78BFA"/>
          </a:solidFill>
        </p:spPr>
        <p:txBody>
          <a:bodyPr/>
          <a:lstStyle/>
          <a:p>
            <a:pPr algn="ctr"/>
            <a:r>
              <a:rPr lang="en-US" sz="1000" b="1">
                <a:solidFill>
                  <a:srgbClr val="FFFFFF"/>
                </a:solidFill>
              </a:rPr>
              <a:t>3.3</a:t>
            </a:r>
          </a:p>
        </p:txBody>
      </p:sp>
      <p:sp>
        <p:nvSpPr>
          <p:cNvPr id="100036" name="BarBefore2"/>
          <p:cNvSpPr txBox="1"/>
          <p:nvPr/>
        </p:nvSpPr>
        <p:spPr>
          <a:xfrm>
            <a:off x="8100000" y="3132000"/>
            <a:ext cx="432000" cy="1260000"/>
          </a:xfrm>
          <a:prstGeom prst="rect">
            <a:avLst/>
          </a:prstGeom>
          <a:solidFill>
            <a:srgbClr val="7C3AED"/>
          </a:solidFill>
        </p:spPr>
        <p:txBody>
          <a:bodyPr/>
          <a:lstStyle/>
          <a:p>
            <a:pPr algn="ctr"/>
            <a:r>
              <a:rPr lang="en-US" sz="1000" b="1">
                <a:solidFill>
                  <a:srgbClr val="FFFFFF"/>
                </a:solidFill>
              </a:rPr>
              <a:t>4.3</a:t>
            </a:r>
          </a:p>
        </p:txBody>
      </p:sp>
      <p:sp>
        <p:nvSpPr>
          <p:cNvPr id="100037" name="BarAfter2"/>
          <p:cNvSpPr txBox="1"/>
          <p:nvPr/>
        </p:nvSpPr>
        <p:spPr>
          <a:xfrm>
            <a:off x="8568000" y="3204000"/>
            <a:ext cx="432000" cy="1188000"/>
          </a:xfrm>
          <a:prstGeom prst="rect">
            <a:avLst/>
          </a:prstGeom>
          <a:solidFill>
            <a:srgbClr val="A78BFA"/>
          </a:solidFill>
        </p:spPr>
        <p:txBody>
          <a:bodyPr/>
          <a:lstStyle/>
          <a:p>
            <a:pPr algn="ctr"/>
            <a:r>
              <a:rPr lang="en-US" sz="1000" b="1">
                <a:solidFill>
                  <a:srgbClr val="FFFFFF"/>
                </a:solidFill>
              </a:rPr>
              <a:t>4.2</a:t>
            </a:r>
          </a:p>
        </p:txBody>
      </p:sp>
      <p:sp>
        <p:nvSpPr>
          <p:cNvPr id="100038" name="BarBefore3"/>
          <p:cNvSpPr txBox="1"/>
          <p:nvPr/>
        </p:nvSpPr>
        <p:spPr>
          <a:xfrm>
            <a:off x="9540000" y="3348000"/>
            <a:ext cx="432000" cy="1044000"/>
          </a:xfrm>
          <a:prstGeom prst="rect">
            <a:avLst/>
          </a:prstGeom>
          <a:solidFill>
            <a:srgbClr val="7C3AED"/>
          </a:solidFill>
        </p:spPr>
        <p:txBody>
          <a:bodyPr/>
          <a:lstStyle/>
          <a:p>
            <a:pPr algn="ctr"/>
            <a:r>
              <a:rPr lang="en-US" sz="1000" b="1">
                <a:solidFill>
                  <a:srgbClr val="FFFFFF"/>
                </a:solidFill>
              </a:rPr>
              <a:t>4.1</a:t>
            </a:r>
          </a:p>
        </p:txBody>
      </p:sp>
      <p:sp>
        <p:nvSpPr>
          <p:cNvPr id="100039" name="BarAfter3"/>
          <p:cNvSpPr txBox="1"/>
          <p:nvPr/>
        </p:nvSpPr>
        <p:spPr>
          <a:xfrm>
            <a:off x="10008000" y="3420000"/>
            <a:ext cx="432000" cy="972000"/>
          </a:xfrm>
          <a:prstGeom prst="rect">
            <a:avLst/>
          </a:prstGeom>
          <a:solidFill>
            <a:srgbClr val="A78BFA"/>
          </a:solidFill>
        </p:spPr>
        <p:txBody>
          <a:bodyPr/>
          <a:lstStyle/>
          <a:p>
            <a:pPr algn="ctr"/>
            <a:r>
              <a:rPr lang="en-US" sz="1000" b="1">
                <a:solidFill>
                  <a:srgbClr val="FFFFFF"/>
                </a:solidFill>
              </a:rPr>
              <a:t>4.0</a:t>
            </a:r>
          </a:p>
        </p:txBody>
      </p:sp>
      <p:sp>
        <p:nvSpPr>
          <p:cNvPr id="100040" name="BarBefore4"/>
          <p:cNvSpPr txBox="1"/>
          <p:nvPr/>
        </p:nvSpPr>
        <p:spPr>
          <a:xfrm>
            <a:off x="10800000" y="3420000"/>
            <a:ext cx="432000" cy="972000"/>
          </a:xfrm>
          <a:prstGeom prst="rect">
            <a:avLst/>
          </a:prstGeom>
          <a:solidFill>
            <a:srgbClr val="7C3AED"/>
          </a:solidFill>
        </p:spPr>
        <p:txBody>
          <a:bodyPr/>
          <a:lstStyle/>
          <a:p>
            <a:pPr algn="ctr"/>
            <a:r>
              <a:rPr lang="en-US" sz="1000" b="1">
                <a:solidFill>
                  <a:srgbClr val="FFFFFF"/>
                </a:solidFill>
              </a:rPr>
              <a:t>4.0</a:t>
            </a:r>
          </a:p>
        </p:txBody>
      </p:sp>
      <p:sp>
        <p:nvSpPr>
          <p:cNvPr id="100041" name="BarAfter4"/>
          <p:cNvSpPr txBox="1"/>
          <p:nvPr/>
        </p:nvSpPr>
        <p:spPr>
          <a:xfrm>
            <a:off x="11268000" y="3492000"/>
            <a:ext cx="432000" cy="900000"/>
          </a:xfrm>
          <a:prstGeom prst="rect">
            <a:avLst/>
          </a:prstGeom>
          <a:solidFill>
            <a:srgbClr val="A78BFA"/>
          </a:solidFill>
        </p:spPr>
        <p:txBody>
          <a:bodyPr/>
          <a:lstStyle/>
          <a:p>
            <a:pPr algn="ctr"/>
            <a:r>
              <a:rPr lang="en-US" sz="1000" b="1">
                <a:solidFill>
                  <a:srgbClr val="FFFFFF"/>
                </a:solidFill>
              </a:rPr>
              <a:t>3.9</a:t>
            </a:r>
          </a:p>
        </p:txBody>
      </p:sp>
      <p:sp>
        <p:nvSpPr>
          <p:cNvPr id="100042" name="LegBefore"/>
          <p:cNvSpPr txBox="1"/>
          <p:nvPr/>
        </p:nvSpPr>
        <p:spPr>
          <a:xfrm>
            <a:off x="6300000" y="4788000"/>
            <a:ext cx="1800000" cy="252000"/>
          </a:xfrm>
          <a:prstGeom prst="rect">
            <a:avLst/>
          </a:prstGeom>
          <a:noFill/>
        </p:spPr>
        <p:txBody>
          <a:bodyPr/>
          <a:lstStyle/>
          <a:p>
            <a:r>
              <a:rPr lang="en-US" sz="1200" b="0">
                <a:solidFill>
                  <a:srgbClr val="7C3AED"/>
                </a:solidFill>
              </a:rPr>
              <a:t>■ Before 5G</a:t>
            </a:r>
          </a:p>
        </p:txBody>
      </p:sp>
      <p:sp>
        <p:nvSpPr>
          <p:cNvPr id="100043" name="LegAfter"/>
          <p:cNvSpPr txBox="1"/>
          <p:nvPr/>
        </p:nvSpPr>
        <p:spPr>
          <a:xfrm>
            <a:off x="8280000" y="4788000"/>
            <a:ext cx="1800000" cy="252000"/>
          </a:xfrm>
          <a:prstGeom prst="rect">
            <a:avLst/>
          </a:prstGeom>
          <a:noFill/>
        </p:spPr>
        <p:txBody>
          <a:bodyPr/>
          <a:lstStyle/>
          <a:p>
            <a:r>
              <a:rPr lang="en-US" sz="1200" b="0">
                <a:solidFill>
                  <a:srgbClr val="A78BFA"/>
                </a:solidFill>
              </a:rPr>
              <a:t>■ After 5G</a:t>
            </a:r>
          </a:p>
        </p:txBody>
      </p:sp>
      <p:sp>
        <p:nvSpPr>
          <p:cNvPr id="100044" name="Verdict"/>
          <p:cNvSpPr txBox="1"/>
          <p:nvPr/>
        </p:nvSpPr>
        <p:spPr>
          <a:xfrm>
            <a:off x="288000" y="4788000"/>
            <a:ext cx="11520000" cy="540000"/>
          </a:xfrm>
          <a:prstGeom prst="rect">
            <a:avLst/>
          </a:prstGeom>
          <a:solidFill>
            <a:srgbClr val="4C1D95"/>
          </a:solidFill>
        </p:spPr>
        <p:txBody>
          <a:bodyPr/>
          <a:lstStyle/>
          <a:p>
            <a:pPr algn="l"/>
            <a:r>
              <a:rPr lang="en-US" sz="1300" b="1">
                <a:solidFill>
                  <a:srgbClr val="FFFFFF"/>
                </a:solidFill>
              </a:rPr>
              <a:t>Verdict: The 5G launch did not boost revenue as expected. The marginal decline signals customer hesitation, plan restructuring, and early churn.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45" name="HeaderBG"/>
          <p:cNvSpPr txBox="1"/>
          <p:nvPr/>
        </p:nvSpPr>
        <p:spPr>
          <a:xfrm>
            <a:off x="0" y="0"/>
            <a:ext cx="12193200" cy="1152000"/>
          </a:xfrm>
          <a:prstGeom prst="rect">
            <a:avLst/>
          </a:prstGeom>
          <a:solidFill>
            <a:srgbClr val="3D1466"/>
          </a:solidFill>
        </p:spPr>
        <p:txBody>
          <a:bodyPr/>
          <a:lstStyle/>
          <a:p>
            <a:endParaRPr lang="en-US" sz="1000">
              <a:solidFill>
                <a:srgbClr val="3D1466"/>
              </a:solidFill>
            </a:endParaRPr>
          </a:p>
        </p:txBody>
      </p:sp>
      <p:sp>
        <p:nvSpPr>
          <p:cNvPr id="100046" name="SlideNum"/>
          <p:cNvSpPr txBox="1"/>
          <p:nvPr/>
        </p:nvSpPr>
        <p:spPr>
          <a:xfrm>
            <a:off x="288000" y="288000"/>
            <a:ext cx="720000" cy="540000"/>
          </a:xfrm>
          <a:prstGeom prst="rect">
            <a:avLst/>
          </a:prstGeom>
          <a:noFill/>
        </p:spPr>
        <p:txBody>
          <a:bodyPr/>
          <a:lstStyle/>
          <a:p>
            <a:r>
              <a:rPr lang="en-US" sz="2800" b="1">
                <a:solidFill>
                  <a:srgbClr val="C084FC"/>
                </a:solidFill>
              </a:rPr>
              <a:t>03</a:t>
            </a:r>
          </a:p>
        </p:txBody>
      </p:sp>
      <p:sp>
        <p:nvSpPr>
          <p:cNvPr id="100047" name="Title"/>
          <p:cNvSpPr txBox="1"/>
          <p:nvPr/>
        </p:nvSpPr>
        <p:spPr>
          <a:xfrm>
            <a:off x="1260000" y="252000"/>
            <a:ext cx="9360000" cy="648000"/>
          </a:xfrm>
          <a:prstGeom prst="rect">
            <a:avLst/>
          </a:prstGeom>
          <a:noFill/>
        </p:spPr>
        <p:txBody>
          <a:bodyPr/>
          <a:lstStyle/>
          <a:p>
            <a:r>
              <a:rPr lang="en-US" sz="3000" b="1">
                <a:solidFill>
                  <a:srgbClr val="FFFFFF"/>
                </a:solidFill>
              </a:rPr>
              <a:t>KPI Performance After 5G Launch</a:t>
            </a:r>
          </a:p>
        </p:txBody>
      </p:sp>
      <p:sp>
        <p:nvSpPr>
          <p:cNvPr id="100048" name="Subtitle"/>
          <p:cNvSpPr txBox="1"/>
          <p:nvPr/>
        </p:nvSpPr>
        <p:spPr>
          <a:xfrm>
            <a:off x="1260000" y="792000"/>
            <a:ext cx="9360000" cy="324000"/>
          </a:xfrm>
          <a:prstGeom prst="rect">
            <a:avLst/>
          </a:prstGeom>
          <a:noFill/>
        </p:spPr>
        <p:txBody>
          <a:bodyPr/>
          <a:lstStyle/>
          <a:p>
            <a:r>
              <a:rPr lang="en-US" sz="1400" b="0">
                <a:solidFill>
                  <a:srgbClr val="C084FC"/>
                </a:solidFill>
              </a:rPr>
              <a:t>Which KPI is underperforming?</a:t>
            </a:r>
          </a:p>
        </p:txBody>
      </p:sp>
      <p:sp>
        <p:nvSpPr>
          <p:cNvPr id="100049" name="KPIRevLabel"/>
          <p:cNvSpPr txBox="1"/>
          <p:nvPr/>
        </p:nvSpPr>
        <p:spPr>
          <a:xfrm>
            <a:off x="288000" y="1368000"/>
            <a:ext cx="2700000" cy="288000"/>
          </a:xfrm>
          <a:prstGeom prst="rect">
            <a:avLst/>
          </a:prstGeom>
          <a:noFill/>
        </p:spPr>
        <p:txBody>
          <a:bodyPr/>
          <a:lstStyle/>
          <a:p>
            <a:pPr algn="ctr"/>
            <a:r>
              <a:rPr lang="en-US" sz="1500" b="1">
                <a:solidFill>
                  <a:srgbClr val="3D1466"/>
                </a:solidFill>
              </a:rPr>
              <a:t>Revenue</a:t>
            </a:r>
          </a:p>
        </p:txBody>
      </p:sp>
      <p:sp>
        <p:nvSpPr>
          <p:cNvPr id="100050" name="KPIRevVal"/>
          <p:cNvSpPr txBox="1"/>
          <p:nvPr/>
        </p:nvSpPr>
        <p:spPr>
          <a:xfrm>
            <a:off x="288000" y="1692000"/>
            <a:ext cx="2700000" cy="792000"/>
          </a:xfrm>
          <a:prstGeom prst="rect">
            <a:avLst/>
          </a:prstGeom>
          <a:solidFill>
            <a:srgbClr val="7C3AED"/>
          </a:solidFill>
        </p:spPr>
        <p:txBody>
          <a:bodyPr/>
          <a:lstStyle/>
          <a:p>
            <a:pPr algn="ctr"/>
            <a:r>
              <a:rPr lang="en-US" sz="2200" b="1">
                <a:solidFill>
                  <a:srgbClr val="FFFFFF"/>
                </a:solidFill>
              </a:rPr>
              <a:t>₹31.9bn</a:t>
            </a:r>
          </a:p>
          <a:p>
            <a:pPr algn="ctr"/>
            <a:r>
              <a:rPr lang="en-US" sz="2200" b="1">
                <a:solidFill>
                  <a:srgbClr val="FFFFFF"/>
                </a:solidFill>
              </a:rPr>
              <a:t>(Combined)</a:t>
            </a:r>
          </a:p>
        </p:txBody>
      </p:sp>
      <p:sp>
        <p:nvSpPr>
          <p:cNvPr id="100051" name="KPIRevChg"/>
          <p:cNvSpPr txBox="1"/>
          <p:nvPr/>
        </p:nvSpPr>
        <p:spPr>
          <a:xfrm>
            <a:off x="288000" y="2556000"/>
            <a:ext cx="2700000" cy="540000"/>
          </a:xfrm>
          <a:prstGeom prst="rect">
            <a:avLst/>
          </a:prstGeom>
          <a:solidFill>
            <a:srgbClr val="FEF2F2"/>
          </a:solidFill>
        </p:spPr>
        <p:txBody>
          <a:bodyPr/>
          <a:lstStyle/>
          <a:p>
            <a:pPr algn="ctr"/>
            <a:r>
              <a:rPr lang="en-US" sz="1300" b="0">
                <a:solidFill>
                  <a:srgbClr val="B91C1C"/>
                </a:solidFill>
              </a:rPr>
              <a:t>Chg: −0.50%</a:t>
            </a:r>
          </a:p>
          <a:p>
            <a:pPr algn="ctr"/>
            <a:r>
              <a:rPr lang="en-US" sz="1300" b="0">
                <a:solidFill>
                  <a:srgbClr val="B91C1C"/>
                </a:solidFill>
              </a:rPr>
              <a:t>⚠ Slight Decline</a:t>
            </a:r>
          </a:p>
        </p:txBody>
      </p:sp>
      <p:sp>
        <p:nvSpPr>
          <p:cNvPr id="100052" name="KPIARPULabel"/>
          <p:cNvSpPr txBox="1"/>
          <p:nvPr/>
        </p:nvSpPr>
        <p:spPr>
          <a:xfrm>
            <a:off x="3312000" y="1368000"/>
            <a:ext cx="2700000" cy="288000"/>
          </a:xfrm>
          <a:prstGeom prst="rect">
            <a:avLst/>
          </a:prstGeom>
          <a:noFill/>
        </p:spPr>
        <p:txBody>
          <a:bodyPr/>
          <a:lstStyle/>
          <a:p>
            <a:pPr algn="ctr"/>
            <a:r>
              <a:rPr lang="en-US" sz="1500" b="1">
                <a:solidFill>
                  <a:srgbClr val="3D1466"/>
                </a:solidFill>
              </a:rPr>
              <a:t>ARPU</a:t>
            </a:r>
          </a:p>
        </p:txBody>
      </p:sp>
      <p:sp>
        <p:nvSpPr>
          <p:cNvPr id="100053" name="KPIARPUVal"/>
          <p:cNvSpPr txBox="1"/>
          <p:nvPr/>
        </p:nvSpPr>
        <p:spPr>
          <a:xfrm>
            <a:off x="3312000" y="1692000"/>
            <a:ext cx="2700000" cy="792000"/>
          </a:xfrm>
          <a:prstGeom prst="rect">
            <a:avLst/>
          </a:prstGeom>
          <a:solidFill>
            <a:srgbClr val="6D28D9"/>
          </a:solidFill>
        </p:spPr>
        <p:txBody>
          <a:bodyPr/>
          <a:lstStyle/>
          <a:p>
            <a:pPr algn="ctr"/>
            <a:r>
              <a:rPr lang="en-US" sz="2200" b="1">
                <a:solidFill>
                  <a:srgbClr val="FFFFFF"/>
                </a:solidFill>
              </a:rPr>
              <a:t>₹200.7</a:t>
            </a:r>
          </a:p>
          <a:p>
            <a:pPr algn="ctr"/>
            <a:r>
              <a:rPr lang="en-US" sz="2200" b="1">
                <a:solidFill>
                  <a:srgbClr val="FFFFFF"/>
                </a:solidFill>
              </a:rPr>
              <a:t>(Avg per User)</a:t>
            </a:r>
          </a:p>
        </p:txBody>
      </p:sp>
      <p:sp>
        <p:nvSpPr>
          <p:cNvPr id="100054" name="KPIARPUChg"/>
          <p:cNvSpPr txBox="1"/>
          <p:nvPr/>
        </p:nvSpPr>
        <p:spPr>
          <a:xfrm>
            <a:off x="3312000" y="2556000"/>
            <a:ext cx="2700000" cy="540000"/>
          </a:xfrm>
          <a:prstGeom prst="rect">
            <a:avLst/>
          </a:prstGeom>
          <a:solidFill>
            <a:srgbClr val="FEF2F2"/>
          </a:solidFill>
        </p:spPr>
        <p:txBody>
          <a:bodyPr/>
          <a:lstStyle/>
          <a:p>
            <a:pPr algn="ctr"/>
            <a:r>
              <a:rPr lang="en-US" sz="1300" b="1">
                <a:solidFill>
                  <a:srgbClr val="B91C1C"/>
                </a:solidFill>
              </a:rPr>
              <a:t>⚠ UNDERPERFORMING</a:t>
            </a:r>
          </a:p>
          <a:p>
            <a:pPr algn="ctr"/>
            <a:r>
              <a:rPr lang="en-US" sz="1300" b="1">
                <a:solidFill>
                  <a:srgbClr val="B91C1C"/>
                </a:solidFill>
              </a:rPr>
              <a:t>Expected ₹211+ post-5G</a:t>
            </a:r>
          </a:p>
        </p:txBody>
      </p:sp>
      <p:sp>
        <p:nvSpPr>
          <p:cNvPr id="100055" name="KPITAULabel"/>
          <p:cNvSpPr txBox="1"/>
          <p:nvPr/>
        </p:nvSpPr>
        <p:spPr>
          <a:xfrm>
            <a:off x="6336000" y="1368000"/>
            <a:ext cx="2700000" cy="288000"/>
          </a:xfrm>
          <a:prstGeom prst="rect">
            <a:avLst/>
          </a:prstGeom>
          <a:noFill/>
        </p:spPr>
        <p:txBody>
          <a:bodyPr/>
          <a:lstStyle/>
          <a:p>
            <a:pPr algn="ctr"/>
            <a:r>
              <a:rPr lang="en-US" sz="1500" b="1">
                <a:solidFill>
                  <a:srgbClr val="3D1466"/>
                </a:solidFill>
              </a:rPr>
              <a:t>TAU (Active Users)</a:t>
            </a:r>
          </a:p>
        </p:txBody>
      </p:sp>
      <p:sp>
        <p:nvSpPr>
          <p:cNvPr id="100056" name="KPITAUVal"/>
          <p:cNvSpPr txBox="1"/>
          <p:nvPr/>
        </p:nvSpPr>
        <p:spPr>
          <a:xfrm>
            <a:off x="6336000" y="1692000"/>
            <a:ext cx="2700000" cy="792000"/>
          </a:xfrm>
          <a:prstGeom prst="rect">
            <a:avLst/>
          </a:prstGeom>
          <a:solidFill>
            <a:srgbClr val="4C1D95"/>
          </a:solidFill>
        </p:spPr>
        <p:txBody>
          <a:bodyPr/>
          <a:lstStyle/>
          <a:p>
            <a:pPr algn="ctr"/>
            <a:r>
              <a:rPr lang="en-US" sz="2200" b="1">
                <a:solidFill>
                  <a:srgbClr val="FFFFFF"/>
                </a:solidFill>
              </a:rPr>
              <a:t>161.7M</a:t>
            </a:r>
          </a:p>
          <a:p>
            <a:pPr algn="ctr"/>
            <a:r>
              <a:rPr lang="en-US" sz="2200" b="1">
                <a:solidFill>
                  <a:srgbClr val="FFFFFF"/>
                </a:solidFill>
              </a:rPr>
              <a:t>(Total)</a:t>
            </a:r>
          </a:p>
        </p:txBody>
      </p:sp>
      <p:sp>
        <p:nvSpPr>
          <p:cNvPr id="100057" name="KPITAUChg"/>
          <p:cNvSpPr txBox="1"/>
          <p:nvPr/>
        </p:nvSpPr>
        <p:spPr>
          <a:xfrm>
            <a:off x="6336000" y="2556000"/>
            <a:ext cx="2700000" cy="540000"/>
          </a:xfrm>
          <a:prstGeom prst="rect">
            <a:avLst/>
          </a:prstGeom>
          <a:solidFill>
            <a:srgbClr val="FFFBEB"/>
          </a:solidFill>
        </p:spPr>
        <p:txBody>
          <a:bodyPr/>
          <a:lstStyle/>
          <a:p>
            <a:pPr algn="ctr"/>
            <a:r>
              <a:rPr lang="en-US" sz="1300" b="0">
                <a:solidFill>
                  <a:srgbClr val="D97706"/>
                </a:solidFill>
              </a:rPr>
              <a:t>✓ Stable base</a:t>
            </a:r>
          </a:p>
          <a:p>
            <a:pPr algn="ctr"/>
            <a:r>
              <a:rPr lang="en-US" sz="1300" b="0">
                <a:solidFill>
                  <a:srgbClr val="D97706"/>
                </a:solidFill>
              </a:rPr>
              <a:t>But growth not visible</a:t>
            </a:r>
          </a:p>
        </p:txBody>
      </p:sp>
      <p:sp>
        <p:nvSpPr>
          <p:cNvPr id="100058" name="KPITUsULabel"/>
          <p:cNvSpPr txBox="1"/>
          <p:nvPr/>
        </p:nvSpPr>
        <p:spPr>
          <a:xfrm>
            <a:off x="9360000" y="1368000"/>
            <a:ext cx="2700000" cy="288000"/>
          </a:xfrm>
          <a:prstGeom prst="rect">
            <a:avLst/>
          </a:prstGeom>
          <a:noFill/>
        </p:spPr>
        <p:txBody>
          <a:bodyPr/>
          <a:lstStyle/>
          <a:p>
            <a:pPr algn="ctr"/>
            <a:r>
              <a:rPr lang="en-US" sz="1500" b="1">
                <a:solidFill>
                  <a:srgbClr val="3D1466"/>
                </a:solidFill>
              </a:rPr>
              <a:t>TUsU (Unsubscribed)</a:t>
            </a:r>
          </a:p>
        </p:txBody>
      </p:sp>
      <p:sp>
        <p:nvSpPr>
          <p:cNvPr id="100059" name="KPITUsUVal"/>
          <p:cNvSpPr txBox="1"/>
          <p:nvPr/>
        </p:nvSpPr>
        <p:spPr>
          <a:xfrm>
            <a:off x="9360000" y="1692000"/>
            <a:ext cx="2700000" cy="792000"/>
          </a:xfrm>
          <a:prstGeom prst="rect">
            <a:avLst/>
          </a:prstGeom>
          <a:solidFill>
            <a:srgbClr val="DC2626"/>
          </a:solidFill>
        </p:spPr>
        <p:txBody>
          <a:bodyPr/>
          <a:lstStyle/>
          <a:p>
            <a:pPr algn="ctr"/>
            <a:r>
              <a:rPr lang="en-US" sz="2200" b="1">
                <a:solidFill>
                  <a:srgbClr val="FFFFFF"/>
                </a:solidFill>
              </a:rPr>
              <a:t>12.6M</a:t>
            </a:r>
          </a:p>
          <a:p>
            <a:pPr algn="ctr"/>
            <a:r>
              <a:rPr lang="en-US" sz="2200" b="1">
                <a:solidFill>
                  <a:srgbClr val="FFFFFF"/>
                </a:solidFill>
              </a:rPr>
              <a:t>(Unsubscribed)</a:t>
            </a:r>
          </a:p>
        </p:txBody>
      </p:sp>
      <p:sp>
        <p:nvSpPr>
          <p:cNvPr id="100060" name="KPITUsUChg"/>
          <p:cNvSpPr txBox="1"/>
          <p:nvPr/>
        </p:nvSpPr>
        <p:spPr>
          <a:xfrm>
            <a:off x="9360000" y="2556000"/>
            <a:ext cx="2700000" cy="540000"/>
          </a:xfrm>
          <a:prstGeom prst="rect">
            <a:avLst/>
          </a:prstGeom>
          <a:solidFill>
            <a:srgbClr val="FEF2F2"/>
          </a:solidFill>
        </p:spPr>
        <p:txBody>
          <a:bodyPr/>
          <a:lstStyle/>
          <a:p>
            <a:pPr algn="ctr"/>
            <a:r>
              <a:rPr lang="en-US" sz="1300" b="1">
                <a:solidFill>
                  <a:srgbClr val="B91C1C"/>
                </a:solidFill>
              </a:rPr>
              <a:t>🚨 CRITICAL CONCERN</a:t>
            </a:r>
          </a:p>
          <a:p>
            <a:pPr algn="ctr"/>
            <a:r>
              <a:rPr lang="en-US" sz="1300" b="1">
                <a:solidFill>
                  <a:srgbClr val="B91C1C"/>
                </a:solidFill>
              </a:rPr>
              <a:t>High churn post-5G</a:t>
            </a:r>
          </a:p>
        </p:txBody>
      </p:sp>
      <p:sp>
        <p:nvSpPr>
          <p:cNvPr id="100061" name="DeepDiveTitle"/>
          <p:cNvSpPr txBox="1"/>
          <p:nvPr/>
        </p:nvSpPr>
        <p:spPr>
          <a:xfrm>
            <a:off x="288000" y="3312000"/>
            <a:ext cx="11520000" cy="288000"/>
          </a:xfrm>
          <a:prstGeom prst="rect">
            <a:avLst/>
          </a:prstGeom>
          <a:noFill/>
        </p:spPr>
        <p:txBody>
          <a:bodyPr/>
          <a:lstStyle/>
          <a:p>
            <a:r>
              <a:rPr lang="en-US" sz="1600" b="1">
                <a:solidFill>
                  <a:srgbClr val="3D1466"/>
                </a:solidFill>
              </a:rPr>
              <a:t>Deep Dive: ARPU — The Most Underperforming KPI</a:t>
            </a:r>
          </a:p>
        </p:txBody>
      </p:sp>
      <p:sp>
        <p:nvSpPr>
          <p:cNvPr id="100062" name="ARPUExp1"/>
          <p:cNvSpPr txBox="1"/>
          <p:nvPr/>
        </p:nvSpPr>
        <p:spPr>
          <a:xfrm>
            <a:off x="288000" y="3636000"/>
            <a:ext cx="11520000" cy="432000"/>
          </a:xfrm>
          <a:prstGeom prst="rect">
            <a:avLst/>
          </a:prstGeom>
          <a:solidFill>
            <a:srgbClr val="FEF2F2"/>
          </a:solidFill>
        </p:spPr>
        <p:txBody>
          <a:bodyPr/>
          <a:lstStyle/>
          <a:p>
            <a:r>
              <a:rPr lang="en-US" sz="1300" b="0">
                <a:solidFill>
                  <a:srgbClr val="1F2937"/>
                </a:solidFill>
              </a:rPr>
              <a:t>🔴  ARPU at ₹200.7 is below the expected ₹211+ threshold for a post-5G premium network.</a:t>
            </a:r>
          </a:p>
        </p:txBody>
      </p:sp>
      <p:sp>
        <p:nvSpPr>
          <p:cNvPr id="100063" name="ARPUExp2"/>
          <p:cNvSpPr txBox="1"/>
          <p:nvPr/>
        </p:nvSpPr>
        <p:spPr>
          <a:xfrm>
            <a:off x="288000" y="4140000"/>
            <a:ext cx="11520000" cy="540000"/>
          </a:xfrm>
          <a:prstGeom prst="rect">
            <a:avLst/>
          </a:prstGeom>
          <a:solidFill>
            <a:srgbClr val="FEF2F2"/>
          </a:solidFill>
        </p:spPr>
        <p:txBody>
          <a:bodyPr/>
          <a:lstStyle/>
          <a:p>
            <a:r>
              <a:rPr lang="en-US" sz="1300" b="0">
                <a:solidFill>
                  <a:srgbClr val="1F2937"/>
                </a:solidFill>
              </a:rPr>
              <a:t>🔴  5G was expected to drive ARPU uplift through premium plan migration. Instead, many users retained lower-cost 4G-equivalent plans (p8, p9, p10 were discontinued — suggesting customers did not upgrade voluntarily).</a:t>
            </a:r>
          </a:p>
        </p:txBody>
      </p:sp>
      <p:sp>
        <p:nvSpPr>
          <p:cNvPr id="100064" name="ARPUExp3"/>
          <p:cNvSpPr txBox="1"/>
          <p:nvPr/>
        </p:nvSpPr>
        <p:spPr>
          <a:xfrm>
            <a:off x="288000" y="4752000"/>
            <a:ext cx="11520000" cy="432000"/>
          </a:xfrm>
          <a:prstGeom prst="rect">
            <a:avLst/>
          </a:prstGeom>
          <a:solidFill>
            <a:srgbClr val="FEF2F2"/>
          </a:solidFill>
        </p:spPr>
        <p:txBody>
          <a:bodyPr/>
          <a:lstStyle/>
          <a:p>
            <a:r>
              <a:rPr lang="en-US" sz="1300" b="0">
                <a:solidFill>
                  <a:srgbClr val="1F2937"/>
                </a:solidFill>
              </a:rPr>
              <a:t>🔴  TUsU of 12.6M compounds the ARPU problem: high-value users unsubscribing pulls down the per-user average.</a:t>
            </a:r>
          </a:p>
        </p:txBody>
      </p:sp>
      <p:sp>
        <p:nvSpPr>
          <p:cNvPr id="100065" name="Recommendation"/>
          <p:cNvSpPr txBox="1"/>
          <p:nvPr/>
        </p:nvSpPr>
        <p:spPr>
          <a:xfrm>
            <a:off x="288000" y="5256000"/>
            <a:ext cx="11520000" cy="432000"/>
          </a:xfrm>
          <a:prstGeom prst="rect">
            <a:avLst/>
          </a:prstGeom>
          <a:solidFill>
            <a:srgbClr val="4C1D95"/>
          </a:solidFill>
        </p:spPr>
        <p:txBody>
          <a:bodyPr/>
          <a:lstStyle/>
          <a:p>
            <a:r>
              <a:rPr lang="en-US" sz="1300" b="1">
                <a:solidFill>
                  <a:srgbClr val="FFFFFF"/>
                </a:solidFill>
              </a:rPr>
              <a:t>Recommendation: Design 5G upgrade incentives and loyalty bundles to push ARPU above ₹211 and reduce churn.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66" name="HeaderBG"/>
          <p:cNvSpPr txBox="1"/>
          <p:nvPr/>
        </p:nvSpPr>
        <p:spPr>
          <a:xfrm>
            <a:off x="0" y="0"/>
            <a:ext cx="12193200" cy="1152000"/>
          </a:xfrm>
          <a:prstGeom prst="rect">
            <a:avLst/>
          </a:prstGeom>
          <a:solidFill>
            <a:srgbClr val="3D1466"/>
          </a:solidFill>
        </p:spPr>
        <p:txBody>
          <a:bodyPr/>
          <a:lstStyle/>
          <a:p>
            <a:endParaRPr lang="en-US" sz="1000">
              <a:solidFill>
                <a:srgbClr val="3D1466"/>
              </a:solidFill>
            </a:endParaRPr>
          </a:p>
        </p:txBody>
      </p:sp>
      <p:sp>
        <p:nvSpPr>
          <p:cNvPr id="100067" name="SlideNum"/>
          <p:cNvSpPr txBox="1"/>
          <p:nvPr/>
        </p:nvSpPr>
        <p:spPr>
          <a:xfrm>
            <a:off x="288000" y="288000"/>
            <a:ext cx="720000" cy="540000"/>
          </a:xfrm>
          <a:prstGeom prst="rect">
            <a:avLst/>
          </a:prstGeom>
          <a:noFill/>
        </p:spPr>
        <p:txBody>
          <a:bodyPr/>
          <a:lstStyle/>
          <a:p>
            <a:r>
              <a:rPr lang="en-US" sz="2800" b="1">
                <a:solidFill>
                  <a:srgbClr val="C084FC"/>
                </a:solidFill>
              </a:rPr>
              <a:t>04</a:t>
            </a:r>
          </a:p>
        </p:txBody>
      </p:sp>
      <p:sp>
        <p:nvSpPr>
          <p:cNvPr id="100068" name="Title"/>
          <p:cNvSpPr txBox="1"/>
          <p:nvPr/>
        </p:nvSpPr>
        <p:spPr>
          <a:xfrm>
            <a:off x="1260000" y="252000"/>
            <a:ext cx="9360000" cy="648000"/>
          </a:xfrm>
          <a:prstGeom prst="rect">
            <a:avLst/>
          </a:prstGeom>
          <a:noFill/>
        </p:spPr>
        <p:txBody>
          <a:bodyPr/>
          <a:lstStyle/>
          <a:p>
            <a:r>
              <a:rPr lang="en-US" sz="3000" b="1">
                <a:solidFill>
                  <a:srgbClr val="FFFFFF"/>
                </a:solidFill>
              </a:rPr>
              <a:t>Plan Performance After 5G Launch</a:t>
            </a:r>
          </a:p>
        </p:txBody>
      </p:sp>
      <p:sp>
        <p:nvSpPr>
          <p:cNvPr id="100069" name="Subtitle"/>
          <p:cNvSpPr txBox="1"/>
          <p:nvPr/>
        </p:nvSpPr>
        <p:spPr>
          <a:xfrm>
            <a:off x="1260000" y="792000"/>
            <a:ext cx="9360000" cy="324000"/>
          </a:xfrm>
          <a:prstGeom prst="rect">
            <a:avLst/>
          </a:prstGeom>
          <a:noFill/>
        </p:spPr>
        <p:txBody>
          <a:bodyPr/>
          <a:lstStyle/>
          <a:p>
            <a:r>
              <a:rPr lang="en-US" sz="1400" b="0">
                <a:solidFill>
                  <a:srgbClr val="C084FC"/>
                </a:solidFill>
              </a:rPr>
              <a:t>Which plans are performing well — and which are not?</a:t>
            </a:r>
          </a:p>
        </p:txBody>
      </p:sp>
      <p:sp>
        <p:nvSpPr>
          <p:cNvPr id="100070" name="TopPlanTitle"/>
          <p:cNvSpPr txBox="1"/>
          <p:nvPr/>
        </p:nvSpPr>
        <p:spPr>
          <a:xfrm>
            <a:off x="288000" y="1368000"/>
            <a:ext cx="5580000" cy="288000"/>
          </a:xfrm>
          <a:prstGeom prst="rect">
            <a:avLst/>
          </a:prstGeom>
          <a:noFill/>
        </p:spPr>
        <p:txBody>
          <a:bodyPr/>
          <a:lstStyle/>
          <a:p>
            <a:r>
              <a:rPr lang="en-US" sz="1600" b="1">
                <a:solidFill>
                  <a:srgbClr val="15803D"/>
                </a:solidFill>
              </a:rPr>
              <a:t>✅ Top Performing Plans (After 5G)</a:t>
            </a:r>
          </a:p>
        </p:txBody>
      </p:sp>
      <p:sp>
        <p:nvSpPr>
          <p:cNvPr id="100071" name="P1Row"/>
          <p:cNvSpPr txBox="1"/>
          <p:nvPr/>
        </p:nvSpPr>
        <p:spPr>
          <a:xfrm>
            <a:off x="288000" y="1692000"/>
            <a:ext cx="5580000" cy="720000"/>
          </a:xfrm>
          <a:prstGeom prst="rect">
            <a:avLst/>
          </a:prstGeom>
          <a:solidFill>
            <a:srgbClr val="DCFCE7"/>
          </a:solidFill>
        </p:spPr>
        <p:txBody>
          <a:bodyPr/>
          <a:lstStyle/>
          <a:p>
            <a:r>
              <a:rPr lang="en-US" sz="1200" b="0">
                <a:solidFill>
                  <a:srgbClr val="1F2937"/>
                </a:solidFill>
              </a:rPr>
              <a:t>p1 — (Highest Revenue Plan)</a:t>
            </a:r>
          </a:p>
          <a:p>
            <a:r>
              <a:rPr lang="en-US" sz="1200" b="0">
                <a:solidFill>
                  <a:srgbClr val="1F2937"/>
                </a:solidFill>
              </a:rPr>
              <a:t>Jun: ₹536M → Jul: ₹628M → Aug: ₹620M → Sep: ₹603M</a:t>
            </a:r>
          </a:p>
          <a:p>
            <a:r>
              <a:rPr lang="en-US" sz="1200" b="0">
                <a:solidFill>
                  <a:srgbClr val="1F2937"/>
                </a:solidFill>
              </a:rPr>
              <a:t>Strong performer. Consistently highest revenue.</a:t>
            </a:r>
          </a:p>
        </p:txBody>
      </p:sp>
      <p:sp>
        <p:nvSpPr>
          <p:cNvPr id="100072" name="P11Row"/>
          <p:cNvSpPr txBox="1"/>
          <p:nvPr/>
        </p:nvSpPr>
        <p:spPr>
          <a:xfrm>
            <a:off x="288000" y="2484000"/>
            <a:ext cx="5580000" cy="720000"/>
          </a:xfrm>
          <a:prstGeom prst="rect">
            <a:avLst/>
          </a:prstGeom>
          <a:solidFill>
            <a:srgbClr val="DCFCE7"/>
          </a:solidFill>
        </p:spPr>
        <p:txBody>
          <a:bodyPr/>
          <a:lstStyle/>
          <a:p>
            <a:r>
              <a:rPr lang="en-US" sz="1200" b="0">
                <a:solidFill>
                  <a:srgbClr val="1F2937"/>
                </a:solidFill>
              </a:rPr>
              <a:t>p11 — (2nd Highest After 5G)</a:t>
            </a:r>
          </a:p>
          <a:p>
            <a:r>
              <a:rPr lang="en-US" sz="1200" b="0">
                <a:solidFill>
                  <a:srgbClr val="1F2937"/>
                </a:solidFill>
              </a:rPr>
              <a:t>Jun: ₹414M → Jul: ₹486M → Aug: ₹478M → Sep: ₹482M</a:t>
            </a:r>
          </a:p>
          <a:p>
            <a:r>
              <a:rPr lang="en-US" sz="1200" b="0">
                <a:solidFill>
                  <a:srgbClr val="1F2937"/>
                </a:solidFill>
              </a:rPr>
              <a:t>New 5G plan. Strong uptake. Consistent performance.</a:t>
            </a:r>
          </a:p>
        </p:txBody>
      </p:sp>
      <p:sp>
        <p:nvSpPr>
          <p:cNvPr id="100073" name="P12Row"/>
          <p:cNvSpPr txBox="1"/>
          <p:nvPr/>
        </p:nvSpPr>
        <p:spPr>
          <a:xfrm>
            <a:off x="288000" y="3276000"/>
            <a:ext cx="5580000" cy="720000"/>
          </a:xfrm>
          <a:prstGeom prst="rect">
            <a:avLst/>
          </a:prstGeom>
          <a:solidFill>
            <a:srgbClr val="DCFCE7"/>
          </a:solidFill>
        </p:spPr>
        <p:txBody>
          <a:bodyPr/>
          <a:lstStyle/>
          <a:p>
            <a:r>
              <a:rPr lang="en-US" sz="1200" b="0">
                <a:solidFill>
                  <a:srgbClr val="1F2937"/>
                </a:solidFill>
              </a:rPr>
              <a:t>p12 — 3rd ranked new plan</a:t>
            </a:r>
          </a:p>
          <a:p>
            <a:r>
              <a:rPr lang="en-US" sz="1200" b="0">
                <a:solidFill>
                  <a:srgbClr val="1F2937"/>
                </a:solidFill>
              </a:rPr>
              <a:t>Jun: ₹255M → Jul: ₹300M → Aug: ₹306M → Sep: ₹300M</a:t>
            </a:r>
          </a:p>
          <a:p>
            <a:r>
              <a:rPr lang="en-US" sz="1200" b="0">
                <a:solidFill>
                  <a:srgbClr val="1F2937"/>
                </a:solidFill>
              </a:rPr>
              <a:t>Growth from Jun to Aug shows adoption curve.</a:t>
            </a:r>
          </a:p>
        </p:txBody>
      </p:sp>
      <p:sp>
        <p:nvSpPr>
          <p:cNvPr id="100074" name="P13Row"/>
          <p:cNvSpPr txBox="1"/>
          <p:nvPr/>
        </p:nvSpPr>
        <p:spPr>
          <a:xfrm>
            <a:off x="288000" y="4068000"/>
            <a:ext cx="5580000" cy="720000"/>
          </a:xfrm>
          <a:prstGeom prst="rect">
            <a:avLst/>
          </a:prstGeom>
          <a:solidFill>
            <a:srgbClr val="DCFCE7"/>
          </a:solidFill>
        </p:spPr>
        <p:txBody>
          <a:bodyPr/>
          <a:lstStyle/>
          <a:p>
            <a:r>
              <a:rPr lang="en-US" sz="1200" b="0">
                <a:solidFill>
                  <a:srgbClr val="1F2937"/>
                </a:solidFill>
              </a:rPr>
              <a:t>p13 — Emerging plan</a:t>
            </a:r>
          </a:p>
          <a:p>
            <a:r>
              <a:rPr lang="en-US" sz="1200" b="0">
                <a:solidFill>
                  <a:srgbClr val="1F2937"/>
                </a:solidFill>
              </a:rPr>
              <a:t>Jun: ₹72M → Jul: ₹82M → Aug: ₹82M → Sep: ₹79M</a:t>
            </a:r>
          </a:p>
          <a:p>
            <a:r>
              <a:rPr lang="en-US" sz="1200" b="0">
                <a:solidFill>
                  <a:srgbClr val="1F2937"/>
                </a:solidFill>
              </a:rPr>
              <a:t>Modest but consistent — early adoption phase.</a:t>
            </a:r>
          </a:p>
        </p:txBody>
      </p:sp>
      <p:sp>
        <p:nvSpPr>
          <p:cNvPr id="100075" name="BadPlanTitle"/>
          <p:cNvSpPr txBox="1"/>
          <p:nvPr/>
        </p:nvSpPr>
        <p:spPr>
          <a:xfrm>
            <a:off x="6300000" y="1368000"/>
            <a:ext cx="5580000" cy="288000"/>
          </a:xfrm>
          <a:prstGeom prst="rect">
            <a:avLst/>
          </a:prstGeom>
          <a:noFill/>
        </p:spPr>
        <p:txBody>
          <a:bodyPr/>
          <a:lstStyle/>
          <a:p>
            <a:r>
              <a:rPr lang="en-US" sz="1600" b="1">
                <a:solidFill>
                  <a:srgbClr val="B91C1C"/>
                </a:solidFill>
              </a:rPr>
              <a:t>❌ Underperforming Plans (After 5G)</a:t>
            </a:r>
          </a:p>
        </p:txBody>
      </p:sp>
      <p:sp>
        <p:nvSpPr>
          <p:cNvPr id="100076" name="P2Row"/>
          <p:cNvSpPr txBox="1"/>
          <p:nvPr/>
        </p:nvSpPr>
        <p:spPr>
          <a:xfrm>
            <a:off x="6300000" y="1692000"/>
            <a:ext cx="5580000" cy="720000"/>
          </a:xfrm>
          <a:prstGeom prst="rect">
            <a:avLst/>
          </a:prstGeom>
          <a:solidFill>
            <a:srgbClr val="FEF2F2"/>
          </a:solidFill>
        </p:spPr>
        <p:txBody>
          <a:bodyPr/>
          <a:lstStyle/>
          <a:p>
            <a:r>
              <a:rPr lang="en-US" sz="1200" b="0">
                <a:solidFill>
                  <a:srgbClr val="1F2937"/>
                </a:solidFill>
              </a:rPr>
              <a:t>p2 — Super Saviour Pack (1.5GB/Day, 56 days)</a:t>
            </a:r>
          </a:p>
          <a:p>
            <a:r>
              <a:rPr lang="en-US" sz="1200" b="0">
                <a:solidFill>
                  <a:srgbClr val="1F2937"/>
                </a:solidFill>
              </a:rPr>
              <a:t>Before 5G: ₹1.5bn | After 5G: ₹1.5bn — nearly flat.</a:t>
            </a:r>
          </a:p>
          <a:p>
            <a:r>
              <a:rPr lang="en-US" sz="1200" b="0">
                <a:solidFill>
                  <a:srgbClr val="1F2937"/>
                </a:solidFill>
              </a:rPr>
              <a:t>Did not grow post-5G. Revenue stagnated.</a:t>
            </a:r>
          </a:p>
        </p:txBody>
      </p:sp>
      <p:sp>
        <p:nvSpPr>
          <p:cNvPr id="100077" name="P3Row"/>
          <p:cNvSpPr txBox="1"/>
          <p:nvPr/>
        </p:nvSpPr>
        <p:spPr>
          <a:xfrm>
            <a:off x="6300000" y="2484000"/>
            <a:ext cx="5580000" cy="720000"/>
          </a:xfrm>
          <a:prstGeom prst="rect">
            <a:avLst/>
          </a:prstGeom>
          <a:solidFill>
            <a:srgbClr val="FEF2F2"/>
          </a:solidFill>
        </p:spPr>
        <p:txBody>
          <a:bodyPr/>
          <a:lstStyle/>
          <a:p>
            <a:r>
              <a:rPr lang="en-US" sz="1200" b="0">
                <a:solidFill>
                  <a:srgbClr val="1F2937"/>
                </a:solidFill>
              </a:rPr>
              <a:t>p3 — Revenue declining trend</a:t>
            </a:r>
          </a:p>
          <a:p>
            <a:r>
              <a:rPr lang="en-US" sz="1200" b="0">
                <a:solidFill>
                  <a:srgbClr val="1F2937"/>
                </a:solidFill>
              </a:rPr>
              <a:t>Jun: ₹304M → Sep: ₹317M (small recovery)</a:t>
            </a:r>
          </a:p>
          <a:p>
            <a:r>
              <a:rPr lang="en-US" sz="1200" b="0">
                <a:solidFill>
                  <a:srgbClr val="1F2937"/>
                </a:solidFill>
              </a:rPr>
              <a:t>Below p1, p11 benchmarks. Limited 5G adoption.</a:t>
            </a:r>
          </a:p>
        </p:txBody>
      </p:sp>
      <p:sp>
        <p:nvSpPr>
          <p:cNvPr id="100078" name="P6Row"/>
          <p:cNvSpPr txBox="1"/>
          <p:nvPr/>
        </p:nvSpPr>
        <p:spPr>
          <a:xfrm>
            <a:off x="6300000" y="3276000"/>
            <a:ext cx="5580000" cy="720000"/>
          </a:xfrm>
          <a:prstGeom prst="rect">
            <a:avLst/>
          </a:prstGeom>
          <a:solidFill>
            <a:srgbClr val="FEF2F2"/>
          </a:solidFill>
        </p:spPr>
        <p:txBody>
          <a:bodyPr/>
          <a:lstStyle/>
          <a:p>
            <a:r>
              <a:rPr lang="en-US" sz="1200" b="0">
                <a:solidFill>
                  <a:srgbClr val="1F2937"/>
                </a:solidFill>
              </a:rPr>
              <a:t>p6 — Declining after initial spike</a:t>
            </a:r>
          </a:p>
          <a:p>
            <a:r>
              <a:rPr lang="en-US" sz="1200" b="0">
                <a:solidFill>
                  <a:srgbClr val="1F2937"/>
                </a:solidFill>
              </a:rPr>
              <a:t>Jun: ₹109M → Jul: ₹135M → Sep: ₹125M</a:t>
            </a:r>
          </a:p>
          <a:p>
            <a:r>
              <a:rPr lang="en-US" sz="1200" b="0">
                <a:solidFill>
                  <a:srgbClr val="1F2937"/>
                </a:solidFill>
              </a:rPr>
              <a:t>Spiked in July, then dropped — not sustainable.</a:t>
            </a:r>
          </a:p>
        </p:txBody>
      </p:sp>
      <p:sp>
        <p:nvSpPr>
          <p:cNvPr id="100079" name="P7Row"/>
          <p:cNvSpPr txBox="1"/>
          <p:nvPr/>
        </p:nvSpPr>
        <p:spPr>
          <a:xfrm>
            <a:off x="6300000" y="4068000"/>
            <a:ext cx="5580000" cy="720000"/>
          </a:xfrm>
          <a:prstGeom prst="rect">
            <a:avLst/>
          </a:prstGeom>
          <a:solidFill>
            <a:srgbClr val="FEF2F2"/>
          </a:solidFill>
        </p:spPr>
        <p:txBody>
          <a:bodyPr/>
          <a:lstStyle/>
          <a:p>
            <a:r>
              <a:rPr lang="en-US" sz="1200" b="0">
                <a:solidFill>
                  <a:srgbClr val="1F2937"/>
                </a:solidFill>
              </a:rPr>
              <a:t>p7 — Weakest plan post-5G</a:t>
            </a:r>
          </a:p>
          <a:p>
            <a:r>
              <a:rPr lang="en-US" sz="1200" b="0">
                <a:solidFill>
                  <a:srgbClr val="1F2937"/>
                </a:solidFill>
              </a:rPr>
              <a:t>Jun: ₹33M → Jul: ₹35M → Sep: ₹43M</a:t>
            </a:r>
          </a:p>
          <a:p>
            <a:r>
              <a:rPr lang="en-US" sz="1200" b="0">
                <a:solidFill>
                  <a:srgbClr val="1F2937"/>
                </a:solidFill>
              </a:rPr>
              <a:t>Very low revenue. Minimal market traction.</a:t>
            </a:r>
          </a:p>
        </p:txBody>
      </p:sp>
      <p:sp>
        <p:nvSpPr>
          <p:cNvPr id="100080" name="Summary"/>
          <p:cNvSpPr txBox="1"/>
          <p:nvPr/>
        </p:nvSpPr>
        <p:spPr>
          <a:xfrm>
            <a:off x="288000" y="4860000"/>
            <a:ext cx="11520000" cy="432000"/>
          </a:xfrm>
          <a:prstGeom prst="rect">
            <a:avLst/>
          </a:prstGeom>
          <a:solidFill>
            <a:srgbClr val="4C1D95"/>
          </a:solidFill>
        </p:spPr>
        <p:txBody>
          <a:bodyPr/>
          <a:lstStyle/>
          <a:p>
            <a:r>
              <a:rPr lang="en-US" sz="1300" b="1">
                <a:solidFill>
                  <a:srgbClr val="FFFFFF"/>
                </a:solidFill>
              </a:rPr>
              <a:t>p1 and p11 together account for ~45% of total post-5G monthly revenue — these are the anchor plans.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81" name="HeaderBG"/>
          <p:cNvSpPr txBox="1"/>
          <p:nvPr/>
        </p:nvSpPr>
        <p:spPr>
          <a:xfrm>
            <a:off x="0" y="0"/>
            <a:ext cx="12193200" cy="1152000"/>
          </a:xfrm>
          <a:prstGeom prst="rect">
            <a:avLst/>
          </a:prstGeom>
          <a:solidFill>
            <a:srgbClr val="3D1466"/>
          </a:solidFill>
        </p:spPr>
        <p:txBody>
          <a:bodyPr/>
          <a:lstStyle/>
          <a:p>
            <a:endParaRPr lang="en-US" sz="1000">
              <a:solidFill>
                <a:srgbClr val="3D1466"/>
              </a:solidFill>
            </a:endParaRPr>
          </a:p>
        </p:txBody>
      </p:sp>
      <p:sp>
        <p:nvSpPr>
          <p:cNvPr id="100082" name="SlideNum"/>
          <p:cNvSpPr txBox="1"/>
          <p:nvPr/>
        </p:nvSpPr>
        <p:spPr>
          <a:xfrm>
            <a:off x="288000" y="288000"/>
            <a:ext cx="720000" cy="540000"/>
          </a:xfrm>
          <a:prstGeom prst="rect">
            <a:avLst/>
          </a:prstGeom>
          <a:noFill/>
        </p:spPr>
        <p:txBody>
          <a:bodyPr/>
          <a:lstStyle/>
          <a:p>
            <a:r>
              <a:rPr lang="en-US" sz="2800" b="1">
                <a:solidFill>
                  <a:srgbClr val="C084FC"/>
                </a:solidFill>
              </a:rPr>
              <a:t>05</a:t>
            </a:r>
          </a:p>
        </p:txBody>
      </p:sp>
      <p:sp>
        <p:nvSpPr>
          <p:cNvPr id="100083" name="Title"/>
          <p:cNvSpPr txBox="1"/>
          <p:nvPr/>
        </p:nvSpPr>
        <p:spPr>
          <a:xfrm>
            <a:off x="1260000" y="252000"/>
            <a:ext cx="9360000" cy="648000"/>
          </a:xfrm>
          <a:prstGeom prst="rect">
            <a:avLst/>
          </a:prstGeom>
          <a:noFill/>
        </p:spPr>
        <p:txBody>
          <a:bodyPr/>
          <a:lstStyle/>
          <a:p>
            <a:r>
              <a:rPr lang="en-US" sz="3000" b="1">
                <a:solidFill>
                  <a:srgbClr val="FFFFFF"/>
                </a:solidFill>
              </a:rPr>
              <a:t>Plan p7 — Most Affected by 5G Launch</a:t>
            </a:r>
          </a:p>
        </p:txBody>
      </p:sp>
      <p:sp>
        <p:nvSpPr>
          <p:cNvPr id="100084" name="Subtitle"/>
          <p:cNvSpPr txBox="1"/>
          <p:nvPr/>
        </p:nvSpPr>
        <p:spPr>
          <a:xfrm>
            <a:off x="1260000" y="792000"/>
            <a:ext cx="9360000" cy="324000"/>
          </a:xfrm>
          <a:prstGeom prst="rect">
            <a:avLst/>
          </a:prstGeom>
          <a:noFill/>
        </p:spPr>
        <p:txBody>
          <a:bodyPr/>
          <a:lstStyle/>
          <a:p>
            <a:r>
              <a:rPr lang="en-US" sz="1400" b="0">
                <a:solidFill>
                  <a:srgbClr val="C084FC"/>
                </a:solidFill>
              </a:rPr>
              <a:t>Should we continue or discontinue?</a:t>
            </a:r>
          </a:p>
        </p:txBody>
      </p:sp>
      <p:sp>
        <p:nvSpPr>
          <p:cNvPr id="100085" name="P7ProfileTitle"/>
          <p:cNvSpPr txBox="1"/>
          <p:nvPr/>
        </p:nvSpPr>
        <p:spPr>
          <a:xfrm>
            <a:off x="288000" y="1368000"/>
            <a:ext cx="5580000" cy="288000"/>
          </a:xfrm>
          <a:prstGeom prst="rect">
            <a:avLst/>
          </a:prstGeom>
          <a:noFill/>
        </p:spPr>
        <p:txBody>
          <a:bodyPr/>
          <a:lstStyle/>
          <a:p>
            <a:r>
              <a:rPr lang="en-US" sz="1600" b="1">
                <a:solidFill>
                  <a:srgbClr val="3D1466"/>
                </a:solidFill>
              </a:rPr>
              <a:t>Plan p7 — Performance Profile</a:t>
            </a:r>
          </a:p>
        </p:txBody>
      </p:sp>
      <p:sp>
        <p:nvSpPr>
          <p:cNvPr id="100086" name="P7RevenueTable"/>
          <p:cNvSpPr txBox="1"/>
          <p:nvPr/>
        </p:nvSpPr>
        <p:spPr>
          <a:xfrm>
            <a:off x="288000" y="1692000"/>
            <a:ext cx="2520000" cy="1440000"/>
          </a:xfrm>
          <a:prstGeom prst="rect">
            <a:avLst/>
          </a:prstGeom>
          <a:solidFill>
            <a:srgbClr val="F5F3FF"/>
          </a:solidFill>
        </p:spPr>
        <p:txBody>
          <a:bodyPr/>
          <a:lstStyle/>
          <a:p>
            <a:r>
              <a:rPr lang="en-US" sz="1300" b="0">
                <a:solidFill>
                  <a:srgbClr val="1F2937"/>
                </a:solidFill>
              </a:rPr>
              <a:t>Month         Revenue</a:t>
            </a:r>
          </a:p>
          <a:p>
            <a:r>
              <a:rPr lang="en-US" sz="1300" b="0">
                <a:solidFill>
                  <a:srgbClr val="1F2937"/>
                </a:solidFill>
              </a:rPr>
              <a:t>June            ₹33M</a:t>
            </a:r>
          </a:p>
          <a:p>
            <a:r>
              <a:rPr lang="en-US" sz="1300" b="0">
                <a:solidFill>
                  <a:srgbClr val="1F2937"/>
                </a:solidFill>
              </a:rPr>
              <a:t>July             ₹35M</a:t>
            </a:r>
          </a:p>
          <a:p>
            <a:r>
              <a:rPr lang="en-US" sz="1300" b="0">
                <a:solidFill>
                  <a:srgbClr val="1F2937"/>
                </a:solidFill>
              </a:rPr>
              <a:t>August        ₹45M</a:t>
            </a:r>
          </a:p>
          <a:p>
            <a:r>
              <a:rPr lang="en-US" sz="1300" b="0">
                <a:solidFill>
                  <a:srgbClr val="1F2937"/>
                </a:solidFill>
              </a:rPr>
              <a:t>September  ₹43M</a:t>
            </a:r>
          </a:p>
        </p:txBody>
      </p:sp>
      <p:sp>
        <p:nvSpPr>
          <p:cNvPr id="100087" name="P7Context"/>
          <p:cNvSpPr txBox="1"/>
          <p:nvPr/>
        </p:nvSpPr>
        <p:spPr>
          <a:xfrm>
            <a:off x="3060000" y="1692000"/>
            <a:ext cx="2700000" cy="1440000"/>
          </a:xfrm>
          <a:prstGeom prst="rect">
            <a:avLst/>
          </a:prstGeom>
          <a:solidFill>
            <a:srgbClr val="FEF2F2"/>
          </a:solidFill>
        </p:spPr>
        <p:txBody>
          <a:bodyPr/>
          <a:lstStyle/>
          <a:p>
            <a:r>
              <a:rPr lang="en-US" sz="1200" b="0">
                <a:solidFill>
                  <a:srgbClr val="1F2937"/>
                </a:solidFill>
              </a:rPr>
              <a:t>Before 5G context:</a:t>
            </a:r>
          </a:p>
          <a:p>
            <a:r>
              <a:rPr lang="en-US" sz="1200" b="0">
                <a:solidFill>
                  <a:srgbClr val="1F2937"/>
                </a:solidFill>
              </a:rPr>
              <a:t>p7 existed (Jan: ₹123M, Feb: ₹158M, Mar: ₹156M, Apr: ₹146M)</a:t>
            </a:r>
          </a:p>
          <a:p>
            <a:endParaRPr lang="en-US" sz="1200" b="0">
              <a:solidFill>
                <a:srgbClr val="1F2937"/>
              </a:solidFill>
            </a:endParaRPr>
          </a:p>
          <a:p>
            <a:r>
              <a:rPr lang="en-US" sz="1200" b="0">
                <a:solidFill>
                  <a:srgbClr val="1F2937"/>
                </a:solidFill>
              </a:rPr>
              <a:t>After 5G:</a:t>
            </a:r>
          </a:p>
          <a:p>
            <a:r>
              <a:rPr lang="en-US" sz="1200" b="0">
                <a:solidFill>
                  <a:srgbClr val="1F2937"/>
                </a:solidFill>
              </a:rPr>
              <a:t>Revenue COLLAPSED from ~₹146M (Apr) to just ₹33M in June — a drop of 77%!</a:t>
            </a:r>
          </a:p>
        </p:txBody>
      </p:sp>
      <p:sp>
        <p:nvSpPr>
          <p:cNvPr id="100088" name="P7ImpactLabel"/>
          <p:cNvSpPr txBox="1"/>
          <p:nvPr/>
        </p:nvSpPr>
        <p:spPr>
          <a:xfrm>
            <a:off x="288000" y="3240000"/>
            <a:ext cx="5580000" cy="252000"/>
          </a:xfrm>
          <a:prstGeom prst="rect">
            <a:avLst/>
          </a:prstGeom>
          <a:noFill/>
        </p:spPr>
        <p:txBody>
          <a:bodyPr/>
          <a:lstStyle/>
          <a:p>
            <a:r>
              <a:rPr lang="en-US" sz="1400" b="1">
                <a:solidFill>
                  <a:srgbClr val="B91C1C"/>
                </a:solidFill>
              </a:rPr>
              <a:t>Revenue Collapse: Before vs After 5G</a:t>
            </a:r>
          </a:p>
        </p:txBody>
      </p:sp>
      <p:sp>
        <p:nvSpPr>
          <p:cNvPr id="100089" name="P7Before"/>
          <p:cNvSpPr txBox="1"/>
          <p:nvPr/>
        </p:nvSpPr>
        <p:spPr>
          <a:xfrm>
            <a:off x="288000" y="3564000"/>
            <a:ext cx="2340000" cy="900000"/>
          </a:xfrm>
          <a:prstGeom prst="rect">
            <a:avLst/>
          </a:prstGeom>
          <a:solidFill>
            <a:srgbClr val="7C3AED"/>
          </a:solidFill>
        </p:spPr>
        <p:txBody>
          <a:bodyPr/>
          <a:lstStyle/>
          <a:p>
            <a:pPr algn="ctr"/>
            <a:r>
              <a:rPr lang="en-US" sz="1800" b="1">
                <a:solidFill>
                  <a:srgbClr val="FFFFFF"/>
                </a:solidFill>
              </a:rPr>
              <a:t>₹146M</a:t>
            </a:r>
          </a:p>
          <a:p>
            <a:pPr algn="ctr"/>
            <a:r>
              <a:rPr lang="en-US" sz="1800" b="1">
                <a:solidFill>
                  <a:srgbClr val="FFFFFF"/>
                </a:solidFill>
              </a:rPr>
              <a:t>Before 5G</a:t>
            </a:r>
          </a:p>
          <a:p>
            <a:pPr algn="ctr"/>
            <a:r>
              <a:rPr lang="en-US" sz="1800" b="1">
                <a:solidFill>
                  <a:srgbClr val="FFFFFF"/>
                </a:solidFill>
              </a:rPr>
              <a:t>(Apr)</a:t>
            </a:r>
          </a:p>
        </p:txBody>
      </p:sp>
      <p:sp>
        <p:nvSpPr>
          <p:cNvPr id="100090" name="P7Arrow"/>
          <p:cNvSpPr txBox="1"/>
          <p:nvPr/>
        </p:nvSpPr>
        <p:spPr>
          <a:xfrm>
            <a:off x="2808000" y="3852000"/>
            <a:ext cx="720000" cy="360000"/>
          </a:xfrm>
          <a:prstGeom prst="rect">
            <a:avLst/>
          </a:prstGeom>
          <a:noFill/>
        </p:spPr>
        <p:txBody>
          <a:bodyPr/>
          <a:lstStyle/>
          <a:p>
            <a:pPr algn="ctr"/>
            <a:r>
              <a:rPr lang="en-US" sz="1800" b="1">
                <a:solidFill>
                  <a:srgbClr val="B91C1C"/>
                </a:solidFill>
              </a:rPr>
              <a:t>▶▶</a:t>
            </a:r>
          </a:p>
        </p:txBody>
      </p:sp>
      <p:sp>
        <p:nvSpPr>
          <p:cNvPr id="100091" name="P7After"/>
          <p:cNvSpPr txBox="1"/>
          <p:nvPr/>
        </p:nvSpPr>
        <p:spPr>
          <a:xfrm>
            <a:off x="3708000" y="3564000"/>
            <a:ext cx="2160000" cy="900000"/>
          </a:xfrm>
          <a:prstGeom prst="rect">
            <a:avLst/>
          </a:prstGeom>
          <a:solidFill>
            <a:srgbClr val="DC2626"/>
          </a:solidFill>
        </p:spPr>
        <p:txBody>
          <a:bodyPr/>
          <a:lstStyle/>
          <a:p>
            <a:pPr algn="ctr"/>
            <a:r>
              <a:rPr lang="en-US" sz="1800" b="1">
                <a:solidFill>
                  <a:srgbClr val="FFFFFF"/>
                </a:solidFill>
              </a:rPr>
              <a:t>₹33M</a:t>
            </a:r>
          </a:p>
          <a:p>
            <a:pPr algn="ctr"/>
            <a:r>
              <a:rPr lang="en-US" sz="1800" b="1">
                <a:solidFill>
                  <a:srgbClr val="FFFFFF"/>
                </a:solidFill>
              </a:rPr>
              <a:t>After 5G</a:t>
            </a:r>
          </a:p>
          <a:p>
            <a:pPr algn="ctr"/>
            <a:r>
              <a:rPr lang="en-US" sz="1800" b="1">
                <a:solidFill>
                  <a:srgbClr val="FFFFFF"/>
                </a:solidFill>
              </a:rPr>
              <a:t>(Jun)</a:t>
            </a:r>
          </a:p>
        </p:txBody>
      </p:sp>
      <p:sp>
        <p:nvSpPr>
          <p:cNvPr id="100092" name="DropLabel"/>
          <p:cNvSpPr txBox="1"/>
          <p:nvPr/>
        </p:nvSpPr>
        <p:spPr>
          <a:xfrm>
            <a:off x="288000" y="4572000"/>
            <a:ext cx="5580000" cy="288000"/>
          </a:xfrm>
          <a:prstGeom prst="rect">
            <a:avLst/>
          </a:prstGeom>
          <a:noFill/>
        </p:spPr>
        <p:txBody>
          <a:bodyPr/>
          <a:lstStyle/>
          <a:p>
            <a:pPr algn="ctr"/>
            <a:r>
              <a:rPr lang="en-US" sz="1400" b="1">
                <a:solidFill>
                  <a:srgbClr val="B91C1C"/>
                </a:solidFill>
              </a:rPr>
              <a:t>−77% DROP</a:t>
            </a:r>
          </a:p>
        </p:txBody>
      </p:sp>
      <p:sp>
        <p:nvSpPr>
          <p:cNvPr id="100093" name="RecommendTitle"/>
          <p:cNvSpPr txBox="1"/>
          <p:nvPr/>
        </p:nvSpPr>
        <p:spPr>
          <a:xfrm>
            <a:off x="6300000" y="1368000"/>
            <a:ext cx="5580000" cy="288000"/>
          </a:xfrm>
          <a:prstGeom prst="rect">
            <a:avLst/>
          </a:prstGeom>
          <a:noFill/>
        </p:spPr>
        <p:txBody>
          <a:bodyPr/>
          <a:lstStyle/>
          <a:p>
            <a:r>
              <a:rPr lang="en-US" sz="1600" b="1">
                <a:solidFill>
                  <a:srgbClr val="3D1466"/>
                </a:solidFill>
              </a:rPr>
              <a:t>Recommendation for p7</a:t>
            </a:r>
          </a:p>
        </p:txBody>
      </p:sp>
      <p:sp>
        <p:nvSpPr>
          <p:cNvPr id="100094" name="WhyAffected"/>
          <p:cNvSpPr txBox="1"/>
          <p:nvPr/>
        </p:nvSpPr>
        <p:spPr>
          <a:xfrm>
            <a:off x="6300000" y="1692000"/>
            <a:ext cx="5580000" cy="1800000"/>
          </a:xfrm>
          <a:prstGeom prst="rect">
            <a:avLst/>
          </a:prstGeom>
          <a:solidFill>
            <a:srgbClr val="FFF7ED"/>
          </a:solidFill>
        </p:spPr>
        <p:txBody>
          <a:bodyPr/>
          <a:lstStyle/>
          <a:p>
            <a:r>
              <a:rPr lang="en-US" sz="1200" b="0">
                <a:solidFill>
                  <a:srgbClr val="1F2937"/>
                </a:solidFill>
              </a:rPr>
              <a:t>WHY IS p7 MOST AFFECTED?</a:t>
            </a:r>
          </a:p>
          <a:p>
            <a:endParaRPr lang="en-US" sz="1200" b="0">
              <a:solidFill>
                <a:srgbClr val="1F2937"/>
              </a:solidFill>
            </a:endParaRPr>
          </a:p>
          <a:p>
            <a:r>
              <a:rPr lang="en-US" sz="1200" b="0">
                <a:solidFill>
                  <a:srgbClr val="1F2937"/>
                </a:solidFill>
              </a:rPr>
              <a:t>• p7 likely a mid-range 4G data plan that became obsolete after 5G launch</a:t>
            </a:r>
          </a:p>
          <a:p>
            <a:r>
              <a:rPr lang="en-US" sz="1200" b="0">
                <a:solidFill>
                  <a:srgbClr val="1F2937"/>
                </a:solidFill>
              </a:rPr>
              <a:t>• Customers who were on p7 migrated to new 5G plans (p11, p12) offering faster speeds</a:t>
            </a:r>
          </a:p>
          <a:p>
            <a:r>
              <a:rPr lang="en-US" sz="1200" b="0">
                <a:solidFill>
                  <a:srgbClr val="1F2937"/>
                </a:solidFill>
              </a:rPr>
              <a:t>• The plan's value proposition collapsed once 5G became available at comparable pricing</a:t>
            </a:r>
          </a:p>
          <a:p>
            <a:r>
              <a:rPr lang="en-US" sz="1200" b="0">
                <a:solidFill>
                  <a:srgbClr val="1F2937"/>
                </a:solidFill>
              </a:rPr>
              <a:t>• Only ₹33M in its first post-5G month vs ₹146M before — worst relative decline of all retained plans</a:t>
            </a:r>
          </a:p>
        </p:txBody>
      </p:sp>
      <p:sp>
        <p:nvSpPr>
          <p:cNvPr id="100095" name="ContinueOrDisc"/>
          <p:cNvSpPr txBox="1"/>
          <p:nvPr/>
        </p:nvSpPr>
        <p:spPr>
          <a:xfrm>
            <a:off x="6300000" y="3600000"/>
            <a:ext cx="5580000" cy="252000"/>
          </a:xfrm>
          <a:prstGeom prst="rect">
            <a:avLst/>
          </a:prstGeom>
          <a:solidFill>
            <a:srgbClr val="D97706"/>
          </a:solidFill>
        </p:spPr>
        <p:txBody>
          <a:bodyPr/>
          <a:lstStyle/>
          <a:p>
            <a:pPr algn="ctr"/>
            <a:r>
              <a:rPr lang="en-US" sz="1400" b="1">
                <a:solidFill>
                  <a:srgbClr val="FFFFFF"/>
                </a:solidFill>
              </a:rPr>
              <a:t>VERDICT: CONDITIONAL CONTINUATION</a:t>
            </a:r>
          </a:p>
        </p:txBody>
      </p:sp>
      <p:sp>
        <p:nvSpPr>
          <p:cNvPr id="100096" name="VerdictDetail"/>
          <p:cNvSpPr txBox="1"/>
          <p:nvPr/>
        </p:nvSpPr>
        <p:spPr>
          <a:xfrm>
            <a:off x="6300000" y="3960000"/>
            <a:ext cx="5580000" cy="1080000"/>
          </a:xfrm>
          <a:prstGeom prst="rect">
            <a:avLst/>
          </a:prstGeom>
          <a:solidFill>
            <a:srgbClr val="FFFBEB"/>
          </a:solidFill>
        </p:spPr>
        <p:txBody>
          <a:bodyPr/>
          <a:lstStyle/>
          <a:p>
            <a:r>
              <a:rPr lang="en-US" sz="1200" b="0">
                <a:solidFill>
                  <a:srgbClr val="1F2937"/>
                </a:solidFill>
              </a:rPr>
              <a:t>✓  Keep p7 for 4G-only markets and customers not yet covered by 5G</a:t>
            </a:r>
          </a:p>
          <a:p>
            <a:r>
              <a:rPr lang="en-US" sz="1200" b="0">
                <a:solidFill>
                  <a:srgbClr val="1F2937"/>
                </a:solidFill>
              </a:rPr>
              <a:t>✓  Rebrand/reprice to serve rural or budget-segment customers</a:t>
            </a:r>
          </a:p>
          <a:p>
            <a:r>
              <a:rPr lang="en-US" sz="1200" b="0">
                <a:solidFill>
                  <a:srgbClr val="1F2937"/>
                </a:solidFill>
              </a:rPr>
              <a:t>✗  Do NOT promote aggressively in 5G-covered cities</a:t>
            </a:r>
          </a:p>
          <a:p>
            <a:r>
              <a:rPr lang="en-US" sz="1200" b="0">
                <a:solidFill>
                  <a:srgbClr val="1F2937"/>
                </a:solidFill>
              </a:rPr>
              <a:t>✗  Do NOT invest in p7 expansion — it is a legacy plan</a:t>
            </a:r>
          </a:p>
        </p:txBody>
      </p:sp>
      <p:sp>
        <p:nvSpPr>
          <p:cNvPr id="100097" name="BottomBanner"/>
          <p:cNvSpPr txBox="1"/>
          <p:nvPr/>
        </p:nvSpPr>
        <p:spPr>
          <a:xfrm>
            <a:off x="288000" y="5040000"/>
            <a:ext cx="11520000" cy="432000"/>
          </a:xfrm>
          <a:prstGeom prst="rect">
            <a:avLst/>
          </a:prstGeom>
          <a:solidFill>
            <a:srgbClr val="4C1D95"/>
          </a:solidFill>
        </p:spPr>
        <p:txBody>
          <a:bodyPr/>
          <a:lstStyle/>
          <a:p>
            <a:r>
              <a:rPr lang="en-US" sz="1300" b="1">
                <a:solidFill>
                  <a:srgbClr val="FFFFFF"/>
                </a:solidFill>
              </a:rPr>
              <a:t>p7 shows the clearest evidence of 5G cannibalisation of legacy plans. Recovery to pre-5G levels is unlikely.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98" name="HeaderBG"/>
          <p:cNvSpPr txBox="1"/>
          <p:nvPr/>
        </p:nvSpPr>
        <p:spPr>
          <a:xfrm>
            <a:off x="0" y="0"/>
            <a:ext cx="12193200" cy="1152000"/>
          </a:xfrm>
          <a:prstGeom prst="rect">
            <a:avLst/>
          </a:prstGeom>
          <a:solidFill>
            <a:srgbClr val="3D1466"/>
          </a:solidFill>
        </p:spPr>
        <p:txBody>
          <a:bodyPr/>
          <a:lstStyle/>
          <a:p>
            <a:endParaRPr lang="en-US" sz="1000">
              <a:solidFill>
                <a:srgbClr val="3D1466"/>
              </a:solidFill>
            </a:endParaRPr>
          </a:p>
        </p:txBody>
      </p:sp>
      <p:sp>
        <p:nvSpPr>
          <p:cNvPr id="100099" name="SlideNum"/>
          <p:cNvSpPr txBox="1"/>
          <p:nvPr/>
        </p:nvSpPr>
        <p:spPr>
          <a:xfrm>
            <a:off x="288000" y="288000"/>
            <a:ext cx="720000" cy="540000"/>
          </a:xfrm>
          <a:prstGeom prst="rect">
            <a:avLst/>
          </a:prstGeom>
          <a:noFill/>
        </p:spPr>
        <p:txBody>
          <a:bodyPr/>
          <a:lstStyle/>
          <a:p>
            <a:r>
              <a:rPr lang="en-US" sz="2800" b="1">
                <a:solidFill>
                  <a:srgbClr val="C084FC"/>
                </a:solidFill>
              </a:rPr>
              <a:t>06</a:t>
            </a:r>
          </a:p>
        </p:txBody>
      </p:sp>
      <p:sp>
        <p:nvSpPr>
          <p:cNvPr id="100100" name="Title"/>
          <p:cNvSpPr txBox="1"/>
          <p:nvPr/>
        </p:nvSpPr>
        <p:spPr>
          <a:xfrm>
            <a:off x="1260000" y="252000"/>
            <a:ext cx="9360000" cy="648000"/>
          </a:xfrm>
          <a:prstGeom prst="rect">
            <a:avLst/>
          </a:prstGeom>
          <a:noFill/>
        </p:spPr>
        <p:txBody>
          <a:bodyPr/>
          <a:lstStyle/>
          <a:p>
            <a:r>
              <a:rPr lang="en-US" sz="3000" b="1">
                <a:solidFill>
                  <a:srgbClr val="FFFFFF"/>
                </a:solidFill>
              </a:rPr>
              <a:t>Discontinued Plans: p8, p9, p10</a:t>
            </a:r>
          </a:p>
        </p:txBody>
      </p:sp>
      <p:sp>
        <p:nvSpPr>
          <p:cNvPr id="100101" name="Subtitle"/>
          <p:cNvSpPr txBox="1"/>
          <p:nvPr/>
        </p:nvSpPr>
        <p:spPr>
          <a:xfrm>
            <a:off x="1260000" y="792000"/>
            <a:ext cx="9360000" cy="324000"/>
          </a:xfrm>
          <a:prstGeom prst="rect">
            <a:avLst/>
          </a:prstGeom>
          <a:noFill/>
        </p:spPr>
        <p:txBody>
          <a:bodyPr/>
          <a:lstStyle/>
          <a:p>
            <a:r>
              <a:rPr lang="en-US" sz="1400" b="0">
                <a:solidFill>
                  <a:srgbClr val="C084FC"/>
                </a:solidFill>
              </a:rPr>
              <a:t>What happened — and why were these plans removed?</a:t>
            </a:r>
          </a:p>
        </p:txBody>
      </p:sp>
      <p:sp>
        <p:nvSpPr>
          <p:cNvPr id="100102" name="ObservationTitle"/>
          <p:cNvSpPr txBox="1"/>
          <p:nvPr/>
        </p:nvSpPr>
        <p:spPr>
          <a:xfrm>
            <a:off x="288000" y="1368000"/>
            <a:ext cx="11520000" cy="288000"/>
          </a:xfrm>
          <a:prstGeom prst="rect">
            <a:avLst/>
          </a:prstGeom>
          <a:noFill/>
        </p:spPr>
        <p:txBody>
          <a:bodyPr/>
          <a:lstStyle/>
          <a:p>
            <a:r>
              <a:rPr lang="en-US" sz="1600" b="1">
                <a:solidFill>
                  <a:srgbClr val="B91C1C"/>
                </a:solidFill>
              </a:rPr>
              <a:t>Observation: Plans p8, p9, p10 exist Before 5G — but not After 5G</a:t>
            </a:r>
          </a:p>
        </p:txBody>
      </p:sp>
      <p:sp>
        <p:nvSpPr>
          <p:cNvPr id="100103" name="P8Box"/>
          <p:cNvSpPr txBox="1"/>
          <p:nvPr/>
        </p:nvSpPr>
        <p:spPr>
          <a:xfrm>
            <a:off x="288000" y="1692000"/>
            <a:ext cx="3420000" cy="2160000"/>
          </a:xfrm>
          <a:prstGeom prst="rect">
            <a:avLst/>
          </a:prstGeom>
          <a:solidFill>
            <a:srgbClr val="FEF2F2"/>
          </a:solidFill>
        </p:spPr>
        <p:txBody>
          <a:bodyPr/>
          <a:lstStyle/>
          <a:p>
            <a:pPr algn="l"/>
            <a:r>
              <a:rPr lang="en-US" sz="1200" b="0">
                <a:solidFill>
                  <a:srgbClr val="1F2937"/>
                </a:solidFill>
              </a:rPr>
              <a:t>Plan p8</a:t>
            </a:r>
          </a:p>
          <a:p>
            <a:pPr algn="l"/>
            <a:r>
              <a:rPr lang="en-US" sz="1200" b="0">
                <a:solidFill>
                  <a:srgbClr val="1F2937"/>
                </a:solidFill>
              </a:rPr>
              <a:t>Before 5G Revenue:</a:t>
            </a:r>
          </a:p>
          <a:p>
            <a:pPr algn="l"/>
            <a:r>
              <a:rPr lang="en-US" sz="1200" b="0">
                <a:solidFill>
                  <a:srgbClr val="1F2937"/>
                </a:solidFill>
              </a:rPr>
              <a:t>Jan: ₹94M</a:t>
            </a:r>
          </a:p>
          <a:p>
            <a:pPr algn="l"/>
            <a:r>
              <a:rPr lang="en-US" sz="1200" b="0">
                <a:solidFill>
                  <a:srgbClr val="1F2937"/>
                </a:solidFill>
              </a:rPr>
              <a:t>Feb: ₹120M</a:t>
            </a:r>
          </a:p>
          <a:p>
            <a:pPr algn="l"/>
            <a:r>
              <a:rPr lang="en-US" sz="1200" b="0">
                <a:solidFill>
                  <a:srgbClr val="1F2937"/>
                </a:solidFill>
              </a:rPr>
              <a:t>Mar: ₹111M</a:t>
            </a:r>
          </a:p>
          <a:p>
            <a:pPr algn="l"/>
            <a:r>
              <a:rPr lang="en-US" sz="1200" b="0">
                <a:solidFill>
                  <a:srgbClr val="1F2937"/>
                </a:solidFill>
              </a:rPr>
              <a:t>Apr: ₹110M</a:t>
            </a:r>
          </a:p>
          <a:p>
            <a:pPr algn="l"/>
            <a:endParaRPr lang="en-US" sz="1200" b="0">
              <a:solidFill>
                <a:srgbClr val="1F2937"/>
              </a:solidFill>
            </a:endParaRPr>
          </a:p>
          <a:p>
            <a:pPr algn="l"/>
            <a:r>
              <a:rPr lang="en-US" sz="1200" b="0">
                <a:solidFill>
                  <a:srgbClr val="1F2937"/>
                </a:solidFill>
              </a:rPr>
              <a:t>After 5G: NOT IN PLAN LIST</a:t>
            </a:r>
          </a:p>
        </p:txBody>
      </p:sp>
      <p:sp>
        <p:nvSpPr>
          <p:cNvPr id="100104" name="P9Box"/>
          <p:cNvSpPr txBox="1"/>
          <p:nvPr/>
        </p:nvSpPr>
        <p:spPr>
          <a:xfrm>
            <a:off x="4140000" y="1692000"/>
            <a:ext cx="3420000" cy="2160000"/>
          </a:xfrm>
          <a:prstGeom prst="rect">
            <a:avLst/>
          </a:prstGeom>
          <a:solidFill>
            <a:srgbClr val="FEF2F2"/>
          </a:solidFill>
        </p:spPr>
        <p:txBody>
          <a:bodyPr/>
          <a:lstStyle/>
          <a:p>
            <a:pPr algn="l"/>
            <a:r>
              <a:rPr lang="en-US" sz="1200" b="0">
                <a:solidFill>
                  <a:srgbClr val="1F2937"/>
                </a:solidFill>
              </a:rPr>
              <a:t>Plan p9</a:t>
            </a:r>
          </a:p>
          <a:p>
            <a:pPr algn="l"/>
            <a:r>
              <a:rPr lang="en-US" sz="1200" b="0">
                <a:solidFill>
                  <a:srgbClr val="1F2937"/>
                </a:solidFill>
              </a:rPr>
              <a:t>Before 5G Revenue:</a:t>
            </a:r>
          </a:p>
          <a:p>
            <a:pPr algn="l"/>
            <a:r>
              <a:rPr lang="en-US" sz="1200" b="0">
                <a:solidFill>
                  <a:srgbClr val="1F2937"/>
                </a:solidFill>
              </a:rPr>
              <a:t>Jan: ₹52M</a:t>
            </a:r>
          </a:p>
          <a:p>
            <a:pPr algn="l"/>
            <a:r>
              <a:rPr lang="en-US" sz="1200" b="0">
                <a:solidFill>
                  <a:srgbClr val="1F2937"/>
                </a:solidFill>
              </a:rPr>
              <a:t>Feb: ₹59M</a:t>
            </a:r>
          </a:p>
          <a:p>
            <a:pPr algn="l"/>
            <a:r>
              <a:rPr lang="en-US" sz="1200" b="0">
                <a:solidFill>
                  <a:srgbClr val="1F2937"/>
                </a:solidFill>
              </a:rPr>
              <a:t>Mar: ₹57M</a:t>
            </a:r>
          </a:p>
          <a:p>
            <a:pPr algn="l"/>
            <a:r>
              <a:rPr lang="en-US" sz="1200" b="0">
                <a:solidFill>
                  <a:srgbClr val="1F2937"/>
                </a:solidFill>
              </a:rPr>
              <a:t>Apr: ₹58M</a:t>
            </a:r>
          </a:p>
          <a:p>
            <a:pPr algn="l"/>
            <a:endParaRPr lang="en-US" sz="1200" b="0">
              <a:solidFill>
                <a:srgbClr val="1F2937"/>
              </a:solidFill>
            </a:endParaRPr>
          </a:p>
          <a:p>
            <a:pPr algn="l"/>
            <a:r>
              <a:rPr lang="en-US" sz="1200" b="0">
                <a:solidFill>
                  <a:srgbClr val="1F2937"/>
                </a:solidFill>
              </a:rPr>
              <a:t>After 5G: NOT IN PLAN LIST</a:t>
            </a:r>
          </a:p>
        </p:txBody>
      </p:sp>
      <p:sp>
        <p:nvSpPr>
          <p:cNvPr id="100105" name="P10Box"/>
          <p:cNvSpPr txBox="1"/>
          <p:nvPr/>
        </p:nvSpPr>
        <p:spPr>
          <a:xfrm>
            <a:off x="7992000" y="1692000"/>
            <a:ext cx="3420000" cy="2160000"/>
          </a:xfrm>
          <a:prstGeom prst="rect">
            <a:avLst/>
          </a:prstGeom>
          <a:solidFill>
            <a:srgbClr val="FEF2F2"/>
          </a:solidFill>
        </p:spPr>
        <p:txBody>
          <a:bodyPr/>
          <a:lstStyle/>
          <a:p>
            <a:pPr algn="l"/>
            <a:r>
              <a:rPr lang="en-US" sz="1200" b="0">
                <a:solidFill>
                  <a:srgbClr val="1F2937"/>
                </a:solidFill>
              </a:rPr>
              <a:t>Plan p10</a:t>
            </a:r>
          </a:p>
          <a:p>
            <a:pPr algn="l"/>
            <a:r>
              <a:rPr lang="en-US" sz="1200" b="0">
                <a:solidFill>
                  <a:srgbClr val="1F2937"/>
                </a:solidFill>
              </a:rPr>
              <a:t>Before 5G Revenue:</a:t>
            </a:r>
          </a:p>
          <a:p>
            <a:pPr algn="l"/>
            <a:r>
              <a:rPr lang="en-US" sz="1200" b="0">
                <a:solidFill>
                  <a:srgbClr val="1F2937"/>
                </a:solidFill>
              </a:rPr>
              <a:t>Jan: ₹23M</a:t>
            </a:r>
          </a:p>
          <a:p>
            <a:pPr algn="l"/>
            <a:r>
              <a:rPr lang="en-US" sz="1200" b="0">
                <a:solidFill>
                  <a:srgbClr val="1F2937"/>
                </a:solidFill>
              </a:rPr>
              <a:t>Feb: ₹37M</a:t>
            </a:r>
          </a:p>
          <a:p>
            <a:pPr algn="l"/>
            <a:r>
              <a:rPr lang="en-US" sz="1200" b="0">
                <a:solidFill>
                  <a:srgbClr val="1F2937"/>
                </a:solidFill>
              </a:rPr>
              <a:t>Mar: ₹34M</a:t>
            </a:r>
          </a:p>
          <a:p>
            <a:pPr algn="l"/>
            <a:r>
              <a:rPr lang="en-US" sz="1200" b="0">
                <a:solidFill>
                  <a:srgbClr val="1F2937"/>
                </a:solidFill>
              </a:rPr>
              <a:t>Apr: ₹38M</a:t>
            </a:r>
          </a:p>
          <a:p>
            <a:pPr algn="l"/>
            <a:endParaRPr lang="en-US" sz="1200" b="0">
              <a:solidFill>
                <a:srgbClr val="1F2937"/>
              </a:solidFill>
            </a:endParaRPr>
          </a:p>
          <a:p>
            <a:pPr algn="l"/>
            <a:r>
              <a:rPr lang="en-US" sz="1200" b="0">
                <a:solidFill>
                  <a:srgbClr val="1F2937"/>
                </a:solidFill>
              </a:rPr>
              <a:t>After 5G: NOT IN PLAN LIST</a:t>
            </a:r>
          </a:p>
        </p:txBody>
      </p:sp>
      <p:sp>
        <p:nvSpPr>
          <p:cNvPr id="100106" name="ReasonTitle"/>
          <p:cNvSpPr txBox="1"/>
          <p:nvPr/>
        </p:nvSpPr>
        <p:spPr>
          <a:xfrm>
            <a:off x="288000" y="3960000"/>
            <a:ext cx="11520000" cy="288000"/>
          </a:xfrm>
          <a:prstGeom prst="rect">
            <a:avLst/>
          </a:prstGeom>
          <a:noFill/>
        </p:spPr>
        <p:txBody>
          <a:bodyPr/>
          <a:lstStyle/>
          <a:p>
            <a:r>
              <a:rPr lang="en-US" sz="1600" b="1">
                <a:solidFill>
                  <a:srgbClr val="3D1466"/>
                </a:solidFill>
              </a:rPr>
              <a:t>Why Were They Discontinued?</a:t>
            </a:r>
          </a:p>
        </p:txBody>
      </p:sp>
      <p:sp>
        <p:nvSpPr>
          <p:cNvPr id="100107" name="Reason1"/>
          <p:cNvSpPr txBox="1"/>
          <p:nvPr/>
        </p:nvSpPr>
        <p:spPr>
          <a:xfrm>
            <a:off x="288000" y="4284000"/>
            <a:ext cx="11520000" cy="540000"/>
          </a:xfrm>
          <a:prstGeom prst="rect">
            <a:avLst/>
          </a:prstGeom>
          <a:solidFill>
            <a:srgbClr val="F5F3FF"/>
          </a:solidFill>
        </p:spPr>
        <p:txBody>
          <a:bodyPr/>
          <a:lstStyle/>
          <a:p>
            <a:r>
              <a:rPr lang="en-US" sz="1200" b="0">
                <a:solidFill>
                  <a:srgbClr val="1F2937"/>
                </a:solidFill>
              </a:rPr>
              <a:t>1. Low Revenue Base — p8 (avg ~₹109M), p9 (avg ~₹57M), p10 (avg ~₹33M) were the three weakest plans before 5G. Combined they contributed less than ₹200M/month — not viable.</a:t>
            </a:r>
          </a:p>
        </p:txBody>
      </p:sp>
      <p:sp>
        <p:nvSpPr>
          <p:cNvPr id="100108" name="Reason2"/>
          <p:cNvSpPr txBox="1"/>
          <p:nvPr/>
        </p:nvSpPr>
        <p:spPr>
          <a:xfrm>
            <a:off x="288000" y="4860000"/>
            <a:ext cx="11520000" cy="540000"/>
          </a:xfrm>
          <a:prstGeom prst="rect">
            <a:avLst/>
          </a:prstGeom>
          <a:solidFill>
            <a:srgbClr val="F5F3FF"/>
          </a:solidFill>
        </p:spPr>
        <p:txBody>
          <a:bodyPr/>
          <a:lstStyle/>
          <a:p>
            <a:r>
              <a:rPr lang="en-US" sz="1200" b="0">
                <a:solidFill>
                  <a:srgbClr val="1F2937"/>
                </a:solidFill>
              </a:rPr>
              <a:t>2. Portfolio Rationalisation — The 5G launch was used to clean up the legacy plan portfolio. With new 5G plans (p11, p12, p13) introduced, the weakest plans were retired to simplify the offering and reduce operational complexity.</a:t>
            </a:r>
          </a:p>
        </p:txBody>
      </p:sp>
      <p:sp>
        <p:nvSpPr>
          <p:cNvPr id="100109" name="Reason3"/>
          <p:cNvSpPr txBox="1"/>
          <p:nvPr/>
        </p:nvSpPr>
        <p:spPr>
          <a:xfrm>
            <a:off x="288000" y="5436000"/>
            <a:ext cx="11520000" cy="468000"/>
          </a:xfrm>
          <a:prstGeom prst="rect">
            <a:avLst/>
          </a:prstGeom>
          <a:solidFill>
            <a:srgbClr val="F5F3FF"/>
          </a:solidFill>
        </p:spPr>
        <p:txBody>
          <a:bodyPr/>
          <a:lstStyle/>
          <a:p>
            <a:r>
              <a:rPr lang="en-US" sz="1200" b="0">
                <a:solidFill>
                  <a:srgbClr val="1F2937"/>
                </a:solidFill>
              </a:rPr>
              <a:t>3. 5G Cannibalisation — p11/p12/p13 likely offered similar or better value at competitive prices, making p8/p9/p10 redundant in the new portfolio structure.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10" name="HeaderBG"/>
          <p:cNvSpPr txBox="1"/>
          <p:nvPr/>
        </p:nvSpPr>
        <p:spPr>
          <a:xfrm>
            <a:off x="0" y="0"/>
            <a:ext cx="12193200" cy="1152000"/>
          </a:xfrm>
          <a:prstGeom prst="rect">
            <a:avLst/>
          </a:prstGeom>
          <a:solidFill>
            <a:srgbClr val="3D1466"/>
          </a:solidFill>
        </p:spPr>
        <p:txBody>
          <a:bodyPr/>
          <a:lstStyle/>
          <a:p>
            <a:endParaRPr lang="en-US" sz="1000">
              <a:solidFill>
                <a:srgbClr val="3D1466"/>
              </a:solidFill>
            </a:endParaRPr>
          </a:p>
        </p:txBody>
      </p:sp>
      <p:sp>
        <p:nvSpPr>
          <p:cNvPr id="100111" name="SlideNum"/>
          <p:cNvSpPr txBox="1"/>
          <p:nvPr/>
        </p:nvSpPr>
        <p:spPr>
          <a:xfrm>
            <a:off x="288000" y="288000"/>
            <a:ext cx="720000" cy="540000"/>
          </a:xfrm>
          <a:prstGeom prst="rect">
            <a:avLst/>
          </a:prstGeom>
          <a:noFill/>
        </p:spPr>
        <p:txBody>
          <a:bodyPr/>
          <a:lstStyle/>
          <a:p>
            <a:r>
              <a:rPr lang="en-US" sz="2800" b="1">
                <a:solidFill>
                  <a:srgbClr val="C084FC"/>
                </a:solidFill>
              </a:rPr>
              <a:t>07</a:t>
            </a:r>
          </a:p>
        </p:txBody>
      </p:sp>
      <p:sp>
        <p:nvSpPr>
          <p:cNvPr id="100112" name="Title"/>
          <p:cNvSpPr txBox="1"/>
          <p:nvPr/>
        </p:nvSpPr>
        <p:spPr>
          <a:xfrm>
            <a:off x="1260000" y="252000"/>
            <a:ext cx="9360000" cy="648000"/>
          </a:xfrm>
          <a:prstGeom prst="rect">
            <a:avLst/>
          </a:prstGeom>
          <a:noFill/>
        </p:spPr>
        <p:txBody>
          <a:bodyPr/>
          <a:lstStyle/>
          <a:p>
            <a:r>
              <a:rPr lang="en-US" sz="3000" b="1">
                <a:solidFill>
                  <a:srgbClr val="FFFFFF"/>
                </a:solidFill>
              </a:rPr>
              <a:t>City-Level Revenue Impact</a:t>
            </a:r>
          </a:p>
        </p:txBody>
      </p:sp>
      <p:sp>
        <p:nvSpPr>
          <p:cNvPr id="100113" name="Subtitle"/>
          <p:cNvSpPr txBox="1"/>
          <p:nvPr/>
        </p:nvSpPr>
        <p:spPr>
          <a:xfrm>
            <a:off x="1260000" y="792000"/>
            <a:ext cx="9360000" cy="324000"/>
          </a:xfrm>
          <a:prstGeom prst="rect">
            <a:avLst/>
          </a:prstGeom>
          <a:noFill/>
        </p:spPr>
        <p:txBody>
          <a:bodyPr/>
          <a:lstStyle/>
          <a:p>
            <a:r>
              <a:rPr lang="en-US" sz="1400" b="0">
                <a:solidFill>
                  <a:srgbClr val="C084FC"/>
                </a:solidFill>
              </a:rPr>
              <a:t>Which cities gained? Which cities lost? What should be done?</a:t>
            </a:r>
          </a:p>
        </p:txBody>
      </p:sp>
      <p:sp>
        <p:nvSpPr>
          <p:cNvPr id="100114" name="GainersTitle"/>
          <p:cNvSpPr txBox="1"/>
          <p:nvPr/>
        </p:nvSpPr>
        <p:spPr>
          <a:xfrm>
            <a:off x="288000" y="1368000"/>
            <a:ext cx="5580000" cy="252000"/>
          </a:xfrm>
          <a:prstGeom prst="rect">
            <a:avLst/>
          </a:prstGeom>
          <a:noFill/>
        </p:spPr>
        <p:txBody>
          <a:bodyPr/>
          <a:lstStyle/>
          <a:p>
            <a:r>
              <a:rPr lang="en-US" sz="1500" b="1">
                <a:solidFill>
                  <a:srgbClr val="15803D"/>
                </a:solidFill>
              </a:rPr>
              <a:t>📈 Cities with Revenue GAINS</a:t>
            </a:r>
          </a:p>
        </p:txBody>
      </p:sp>
      <p:sp>
        <p:nvSpPr>
          <p:cNvPr id="100115" name="GainersTable"/>
          <p:cNvSpPr txBox="1"/>
          <p:nvPr/>
        </p:nvSpPr>
        <p:spPr>
          <a:xfrm>
            <a:off x="288000" y="1656000"/>
            <a:ext cx="5580000" cy="2160000"/>
          </a:xfrm>
          <a:prstGeom prst="rect">
            <a:avLst/>
          </a:prstGeom>
          <a:solidFill>
            <a:srgbClr val="DCFCE7"/>
          </a:solidFill>
        </p:spPr>
        <p:txBody>
          <a:bodyPr/>
          <a:lstStyle/>
          <a:p>
            <a:r>
              <a:rPr lang="en-US" sz="1100" b="0">
                <a:solidFill>
                  <a:srgbClr val="1F2937"/>
                </a:solidFill>
              </a:rPr>
              <a:t>City           Total Rev    Before 5G   After 5G    Chg%</a:t>
            </a:r>
          </a:p>
          <a:p>
            <a:r>
              <a:rPr lang="en-US" sz="1100" b="0">
                <a:solidFill>
                  <a:srgbClr val="1F2937"/>
                </a:solidFill>
              </a:rPr>
              <a:t>Mumbai    ₹4,896M    ₹2,444M    ₹2,452M    +0.31%</a:t>
            </a:r>
          </a:p>
          <a:p>
            <a:r>
              <a:rPr lang="en-US" sz="1100" b="0">
                <a:solidFill>
                  <a:srgbClr val="1F2937"/>
                </a:solidFill>
              </a:rPr>
              <a:t>Bangalore  ₹3,386M    ₹1,687M    ₹1,699M    +0.75%</a:t>
            </a:r>
          </a:p>
          <a:p>
            <a:r>
              <a:rPr lang="en-US" sz="1100" b="0">
                <a:solidFill>
                  <a:srgbClr val="1F2937"/>
                </a:solidFill>
              </a:rPr>
              <a:t>Pune         ₹2,598M    ₹1,296M    ₹1,301M    +0.37%</a:t>
            </a:r>
          </a:p>
          <a:p>
            <a:r>
              <a:rPr lang="en-US" sz="1100" b="0">
                <a:solidFill>
                  <a:srgbClr val="1F2937"/>
                </a:solidFill>
              </a:rPr>
              <a:t>Jaipur        ₹1,409M    ₹701M       ₹708M       +0.98%</a:t>
            </a:r>
          </a:p>
          <a:p>
            <a:r>
              <a:rPr lang="en-US" sz="1100" b="0">
                <a:solidFill>
                  <a:srgbClr val="1F2937"/>
                </a:solidFill>
              </a:rPr>
              <a:t>Lucknow   ₹1,308M    ₹648M       ₹660M       +1.82%</a:t>
            </a:r>
          </a:p>
          <a:p>
            <a:r>
              <a:rPr lang="en-US" sz="1100" b="0">
                <a:solidFill>
                  <a:srgbClr val="1F2937"/>
                </a:solidFill>
              </a:rPr>
              <a:t>Patna         ₹982M       ₹487M       ₹495M       +1.48%</a:t>
            </a:r>
          </a:p>
          <a:p>
            <a:r>
              <a:rPr lang="en-US" sz="1100" b="0">
                <a:solidFill>
                  <a:srgbClr val="1F2937"/>
                </a:solidFill>
              </a:rPr>
              <a:t>Coimbatore ₹914M      ₹457M       ₹457M       +0.11%</a:t>
            </a:r>
          </a:p>
          <a:p>
            <a:r>
              <a:rPr lang="en-US" sz="1100" b="0">
                <a:solidFill>
                  <a:srgbClr val="1F2937"/>
                </a:solidFill>
              </a:rPr>
              <a:t>Gurgaon   ₹547M       ₹271M       ₹275M       +1.51%</a:t>
            </a:r>
          </a:p>
        </p:txBody>
      </p:sp>
      <p:sp>
        <p:nvSpPr>
          <p:cNvPr id="100116" name="LosersTitle"/>
          <p:cNvSpPr txBox="1"/>
          <p:nvPr/>
        </p:nvSpPr>
        <p:spPr>
          <a:xfrm>
            <a:off x="6300000" y="1368000"/>
            <a:ext cx="5580000" cy="252000"/>
          </a:xfrm>
          <a:prstGeom prst="rect">
            <a:avLst/>
          </a:prstGeom>
          <a:noFill/>
        </p:spPr>
        <p:txBody>
          <a:bodyPr/>
          <a:lstStyle/>
          <a:p>
            <a:r>
              <a:rPr lang="en-US" sz="1500" b="1">
                <a:solidFill>
                  <a:srgbClr val="B91C1C"/>
                </a:solidFill>
              </a:rPr>
              <a:t>📉 Cities with Revenue DECLINES</a:t>
            </a:r>
          </a:p>
        </p:txBody>
      </p:sp>
      <p:sp>
        <p:nvSpPr>
          <p:cNvPr id="100117" name="LosersTable"/>
          <p:cNvSpPr txBox="1"/>
          <p:nvPr/>
        </p:nvSpPr>
        <p:spPr>
          <a:xfrm>
            <a:off x="6300000" y="1656000"/>
            <a:ext cx="5580000" cy="1800000"/>
          </a:xfrm>
          <a:prstGeom prst="rect">
            <a:avLst/>
          </a:prstGeom>
          <a:solidFill>
            <a:srgbClr val="FEF2F2"/>
          </a:solidFill>
        </p:spPr>
        <p:txBody>
          <a:bodyPr/>
          <a:lstStyle/>
          <a:p>
            <a:r>
              <a:rPr lang="en-US" sz="1100" b="0">
                <a:solidFill>
                  <a:srgbClr val="1F2937"/>
                </a:solidFill>
              </a:rPr>
              <a:t>City           Total Rev    Before 5G   After 5G    Chg%</a:t>
            </a:r>
          </a:p>
          <a:p>
            <a:r>
              <a:rPr lang="en-US" sz="1100" b="0">
                <a:solidFill>
                  <a:srgbClr val="1F2937"/>
                </a:solidFill>
              </a:rPr>
              <a:t>Delhi          ₹3,872M    ₹1,964M    ₹1,908M    -2.83%</a:t>
            </a:r>
          </a:p>
          <a:p>
            <a:r>
              <a:rPr lang="en-US" sz="1100" b="0">
                <a:solidFill>
                  <a:srgbClr val="1F2937"/>
                </a:solidFill>
              </a:rPr>
              <a:t>Chennai     ₹2,964M    ₹1,501M    ₹1,462M    -2.59%</a:t>
            </a:r>
          </a:p>
          <a:p>
            <a:r>
              <a:rPr lang="en-US" sz="1100" b="0">
                <a:solidFill>
                  <a:srgbClr val="1F2937"/>
                </a:solidFill>
              </a:rPr>
              <a:t>Hyderabad ₹2,357M   ₹1,186M    ₹1,171M    -1.29%</a:t>
            </a:r>
          </a:p>
          <a:p>
            <a:r>
              <a:rPr lang="en-US" sz="1100" b="0">
                <a:solidFill>
                  <a:srgbClr val="1F2937"/>
                </a:solidFill>
              </a:rPr>
              <a:t>Ahmedabad ₹1,871M  ₹945M       ₹926M       -2.02%</a:t>
            </a:r>
          </a:p>
          <a:p>
            <a:r>
              <a:rPr lang="en-US" sz="1100" b="0">
                <a:solidFill>
                  <a:srgbClr val="1F2937"/>
                </a:solidFill>
              </a:rPr>
              <a:t>Kolkata      ₹3,844M    ₹1,926M    ₹1,918M    -0.37%</a:t>
            </a:r>
          </a:p>
          <a:p>
            <a:r>
              <a:rPr lang="en-US" sz="1100" b="0">
                <a:solidFill>
                  <a:srgbClr val="1F2937"/>
                </a:solidFill>
              </a:rPr>
              <a:t>Chandigarh ₹612M     ₹307M       ₹305M       -0.55%</a:t>
            </a:r>
          </a:p>
        </p:txBody>
      </p:sp>
      <p:sp>
        <p:nvSpPr>
          <p:cNvPr id="100118" name="InsightsTitle"/>
          <p:cNvSpPr txBox="1"/>
          <p:nvPr/>
        </p:nvSpPr>
        <p:spPr>
          <a:xfrm>
            <a:off x="288000" y="3960000"/>
            <a:ext cx="11520000" cy="252000"/>
          </a:xfrm>
          <a:prstGeom prst="rect">
            <a:avLst/>
          </a:prstGeom>
          <a:noFill/>
        </p:spPr>
        <p:txBody>
          <a:bodyPr/>
          <a:lstStyle/>
          <a:p>
            <a:r>
              <a:rPr lang="en-US" sz="1500" b="1">
                <a:solidFill>
                  <a:srgbClr val="3D1466"/>
                </a:solidFill>
              </a:rPr>
              <a:t>Key Insights</a:t>
            </a:r>
          </a:p>
        </p:txBody>
      </p:sp>
      <p:sp>
        <p:nvSpPr>
          <p:cNvPr id="100119" name="Insight1"/>
          <p:cNvSpPr txBox="1"/>
          <p:nvPr/>
        </p:nvSpPr>
        <p:spPr>
          <a:xfrm>
            <a:off x="288000" y="4248000"/>
            <a:ext cx="11520000" cy="360000"/>
          </a:xfrm>
          <a:prstGeom prst="rect">
            <a:avLst/>
          </a:prstGeom>
          <a:solidFill>
            <a:srgbClr val="F5F3FF"/>
          </a:solidFill>
        </p:spPr>
        <p:txBody>
          <a:bodyPr/>
          <a:lstStyle/>
          <a:p>
            <a:r>
              <a:rPr lang="en-US" sz="1200" b="0">
                <a:solidFill>
                  <a:srgbClr val="1F2937"/>
                </a:solidFill>
              </a:rPr>
              <a:t>🏆 Lucknow (+1.82%) and Gurgaon (+1.51%) are the top-gaining cities — likely early 5G adopters with tech-savvy demographics.</a:t>
            </a:r>
          </a:p>
        </p:txBody>
      </p:sp>
      <p:sp>
        <p:nvSpPr>
          <p:cNvPr id="100120" name="Insight2"/>
          <p:cNvSpPr txBox="1"/>
          <p:nvPr/>
        </p:nvSpPr>
        <p:spPr>
          <a:xfrm>
            <a:off x="288000" y="4680000"/>
            <a:ext cx="11520000" cy="360000"/>
          </a:xfrm>
          <a:prstGeom prst="rect">
            <a:avLst/>
          </a:prstGeom>
          <a:solidFill>
            <a:srgbClr val="FEF2F2"/>
          </a:solidFill>
        </p:spPr>
        <p:txBody>
          <a:bodyPr/>
          <a:lstStyle/>
          <a:p>
            <a:r>
              <a:rPr lang="en-US" sz="1200" b="0">
                <a:solidFill>
                  <a:srgbClr val="1F2937"/>
                </a:solidFill>
              </a:rPr>
              <a:t>🚨 Delhi (−2.83%) and Chennai (−2.59%) are the biggest losers — these are metros with high competition from rival 5G networks, likely causing subscriber churn.</a:t>
            </a:r>
          </a:p>
        </p:txBody>
      </p:sp>
      <p:sp>
        <p:nvSpPr>
          <p:cNvPr id="100121" name="Insight3"/>
          <p:cNvSpPr txBox="1"/>
          <p:nvPr/>
        </p:nvSpPr>
        <p:spPr>
          <a:xfrm>
            <a:off x="288000" y="5112000"/>
            <a:ext cx="11520000" cy="360000"/>
          </a:xfrm>
          <a:prstGeom prst="rect">
            <a:avLst/>
          </a:prstGeom>
          <a:solidFill>
            <a:srgbClr val="F5F3FF"/>
          </a:solidFill>
        </p:spPr>
        <p:txBody>
          <a:bodyPr/>
          <a:lstStyle/>
          <a:p>
            <a:r>
              <a:rPr lang="en-US" sz="1200" b="0">
                <a:solidFill>
                  <a:srgbClr val="1F2937"/>
                </a:solidFill>
              </a:rPr>
              <a:t>⚡ Mumbai, despite being the highest revenue city (₹4,896M), only grew +0.31% — suggesting market saturation and intense competition.</a:t>
            </a:r>
          </a:p>
        </p:txBody>
      </p:sp>
      <p:sp>
        <p:nvSpPr>
          <p:cNvPr id="100122" name="Recommendation"/>
          <p:cNvSpPr txBox="1"/>
          <p:nvPr/>
        </p:nvSpPr>
        <p:spPr>
          <a:xfrm>
            <a:off x="288000" y="5544000"/>
            <a:ext cx="11520000" cy="360000"/>
          </a:xfrm>
          <a:prstGeom prst="rect">
            <a:avLst/>
          </a:prstGeom>
          <a:solidFill>
            <a:srgbClr val="4C1D95"/>
          </a:solidFill>
        </p:spPr>
        <p:txBody>
          <a:bodyPr/>
          <a:lstStyle/>
          <a:p>
            <a:r>
              <a:rPr lang="en-US" sz="1300" b="1">
                <a:solidFill>
                  <a:srgbClr val="FFFFFF"/>
                </a:solidFill>
              </a:rPr>
              <a:t>Action: Investigate Delhi &amp; Chennai — assess competitor pricing, 5G coverage gaps, and plan mismatches in those markets.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23" name="HeaderBG"/>
          <p:cNvSpPr txBox="1"/>
          <p:nvPr/>
        </p:nvSpPr>
        <p:spPr>
          <a:xfrm>
            <a:off x="0" y="0"/>
            <a:ext cx="12193200" cy="1152000"/>
          </a:xfrm>
          <a:prstGeom prst="rect">
            <a:avLst/>
          </a:prstGeom>
          <a:solidFill>
            <a:srgbClr val="3D1466"/>
          </a:solidFill>
        </p:spPr>
        <p:txBody>
          <a:bodyPr/>
          <a:lstStyle/>
          <a:p>
            <a:endParaRPr lang="en-US" sz="1000">
              <a:solidFill>
                <a:srgbClr val="3D1466"/>
              </a:solidFill>
            </a:endParaRPr>
          </a:p>
        </p:txBody>
      </p:sp>
      <p:sp>
        <p:nvSpPr>
          <p:cNvPr id="100124" name="SlideNum"/>
          <p:cNvSpPr txBox="1"/>
          <p:nvPr/>
        </p:nvSpPr>
        <p:spPr>
          <a:xfrm>
            <a:off x="288000" y="288000"/>
            <a:ext cx="720000" cy="540000"/>
          </a:xfrm>
          <a:prstGeom prst="rect">
            <a:avLst/>
          </a:prstGeom>
          <a:noFill/>
        </p:spPr>
        <p:txBody>
          <a:bodyPr/>
          <a:lstStyle/>
          <a:p>
            <a:r>
              <a:rPr lang="en-US" sz="2800" b="1">
                <a:solidFill>
                  <a:srgbClr val="C084FC"/>
                </a:solidFill>
              </a:rPr>
              <a:t>08</a:t>
            </a:r>
          </a:p>
        </p:txBody>
      </p:sp>
      <p:sp>
        <p:nvSpPr>
          <p:cNvPr id="100125" name="Title"/>
          <p:cNvSpPr txBox="1"/>
          <p:nvPr/>
        </p:nvSpPr>
        <p:spPr>
          <a:xfrm>
            <a:off x="1260000" y="252000"/>
            <a:ext cx="9360000" cy="648000"/>
          </a:xfrm>
          <a:prstGeom prst="rect">
            <a:avLst/>
          </a:prstGeom>
          <a:noFill/>
        </p:spPr>
        <p:txBody>
          <a:bodyPr/>
          <a:lstStyle/>
          <a:p>
            <a:r>
              <a:rPr lang="en-US" sz="3000" b="1">
                <a:solidFill>
                  <a:srgbClr val="FFFFFF"/>
                </a:solidFill>
              </a:rPr>
              <a:t>Additional Insights &amp; Anomalies</a:t>
            </a:r>
          </a:p>
        </p:txBody>
      </p:sp>
      <p:sp>
        <p:nvSpPr>
          <p:cNvPr id="100126" name="Subtitle"/>
          <p:cNvSpPr txBox="1"/>
          <p:nvPr/>
        </p:nvSpPr>
        <p:spPr>
          <a:xfrm>
            <a:off x="1260000" y="792000"/>
            <a:ext cx="9360000" cy="324000"/>
          </a:xfrm>
          <a:prstGeom prst="rect">
            <a:avLst/>
          </a:prstGeom>
          <a:noFill/>
        </p:spPr>
        <p:txBody>
          <a:bodyPr/>
          <a:lstStyle/>
          <a:p>
            <a:r>
              <a:rPr lang="en-US" sz="1400" b="0">
                <a:solidFill>
                  <a:srgbClr val="C084FC"/>
                </a:solidFill>
              </a:rPr>
              <a:t>Hidden patterns discovered beyond the core questions</a:t>
            </a:r>
          </a:p>
        </p:txBody>
      </p:sp>
      <p:sp>
        <p:nvSpPr>
          <p:cNvPr id="100127" name="Insight1Title"/>
          <p:cNvSpPr txBox="1"/>
          <p:nvPr/>
        </p:nvSpPr>
        <p:spPr>
          <a:xfrm>
            <a:off x="288000" y="1368000"/>
            <a:ext cx="11520000" cy="252000"/>
          </a:xfrm>
          <a:prstGeom prst="rect">
            <a:avLst/>
          </a:prstGeom>
          <a:noFill/>
        </p:spPr>
        <p:txBody>
          <a:bodyPr/>
          <a:lstStyle/>
          <a:p>
            <a:r>
              <a:rPr lang="en-US" sz="1400" b="1">
                <a:solidFill>
                  <a:srgbClr val="3D1466"/>
                </a:solidFill>
              </a:rPr>
              <a:t>1. July Peak: Launch Excitement Effect</a:t>
            </a:r>
          </a:p>
        </p:txBody>
      </p:sp>
      <p:sp>
        <p:nvSpPr>
          <p:cNvPr id="100128" name="Insight1Body"/>
          <p:cNvSpPr txBox="1"/>
          <p:nvPr/>
        </p:nvSpPr>
        <p:spPr>
          <a:xfrm>
            <a:off x="288000" y="1656000"/>
            <a:ext cx="11520000" cy="540000"/>
          </a:xfrm>
          <a:prstGeom prst="rect">
            <a:avLst/>
          </a:prstGeom>
          <a:solidFill>
            <a:srgbClr val="F5F3FF"/>
          </a:solidFill>
        </p:spPr>
        <p:txBody>
          <a:bodyPr/>
          <a:lstStyle/>
          <a:p>
            <a:r>
              <a:rPr lang="en-US" sz="1200" b="0">
                <a:solidFill>
                  <a:srgbClr val="1F2937"/>
                </a:solidFill>
              </a:rPr>
              <a:t>The highest revenue month post-5G was July (₹486M for p11, ₹628M for p1). July represents the first full month after June launch. The post-launch spike then plateaued — indicating initial excitement drove subscriptions but long-term retention is being tested.</a:t>
            </a:r>
          </a:p>
        </p:txBody>
      </p:sp>
      <p:sp>
        <p:nvSpPr>
          <p:cNvPr id="100129" name="Insight2Title"/>
          <p:cNvSpPr txBox="1"/>
          <p:nvPr/>
        </p:nvSpPr>
        <p:spPr>
          <a:xfrm>
            <a:off x="288000" y="2304000"/>
            <a:ext cx="11520000" cy="252000"/>
          </a:xfrm>
          <a:prstGeom prst="rect">
            <a:avLst/>
          </a:prstGeom>
          <a:noFill/>
        </p:spPr>
        <p:txBody>
          <a:bodyPr/>
          <a:lstStyle/>
          <a:p>
            <a:r>
              <a:rPr lang="en-US" sz="1400" b="1">
                <a:solidFill>
                  <a:srgbClr val="3D1466"/>
                </a:solidFill>
              </a:rPr>
              <a:t>2. p2 (Super Saviour Pack) — A Stagnant Survivor</a:t>
            </a:r>
          </a:p>
        </p:txBody>
      </p:sp>
      <p:sp>
        <p:nvSpPr>
          <p:cNvPr id="100130" name="Insight2Body"/>
          <p:cNvSpPr txBox="1"/>
          <p:nvPr/>
        </p:nvSpPr>
        <p:spPr>
          <a:xfrm>
            <a:off x="288000" y="2592000"/>
            <a:ext cx="11520000" cy="720000"/>
          </a:xfrm>
          <a:prstGeom prst="rect">
            <a:avLst/>
          </a:prstGeom>
          <a:solidFill>
            <a:srgbClr val="F5F3FF"/>
          </a:solidFill>
        </p:spPr>
        <p:txBody>
          <a:bodyPr/>
          <a:lstStyle/>
          <a:p>
            <a:r>
              <a:rPr lang="en-US" sz="1200" b="0">
                <a:solidFill>
                  <a:srgbClr val="1F2937"/>
                </a:solidFill>
              </a:rPr>
              <a:t>p2 (1.5GB/Day Combo, 56 days) existed both before and after 5G. Its Before 5G revenue: ₹1.5bn and After 5G revenue: ₹1.5bn — identically flat. This plan neither benefited from nor was hurt by 5G. It likely serves a price-sensitive, data-moderate segment that is indifferent to 5G infrastructure. Opportunity: Upsell this segment to 5G plans.</a:t>
            </a:r>
          </a:p>
        </p:txBody>
      </p:sp>
      <p:sp>
        <p:nvSpPr>
          <p:cNvPr id="100131" name="Insight3Title"/>
          <p:cNvSpPr txBox="1"/>
          <p:nvPr/>
        </p:nvSpPr>
        <p:spPr>
          <a:xfrm>
            <a:off x="288000" y="3420000"/>
            <a:ext cx="11520000" cy="252000"/>
          </a:xfrm>
          <a:prstGeom prst="rect">
            <a:avLst/>
          </a:prstGeom>
          <a:noFill/>
        </p:spPr>
        <p:txBody>
          <a:bodyPr/>
          <a:lstStyle/>
          <a:p>
            <a:r>
              <a:rPr lang="en-US" sz="1400" b="1">
                <a:solidFill>
                  <a:srgbClr val="3D1466"/>
                </a:solidFill>
              </a:rPr>
              <a:t>3. Portfolio Shift: Before 5G (10 plans) → After 5G (10 plans, different mix)</a:t>
            </a:r>
          </a:p>
        </p:txBody>
      </p:sp>
      <p:sp>
        <p:nvSpPr>
          <p:cNvPr id="100132" name="Insight3Body"/>
          <p:cNvSpPr txBox="1"/>
          <p:nvPr/>
        </p:nvSpPr>
        <p:spPr>
          <a:xfrm>
            <a:off x="288000" y="3708000"/>
            <a:ext cx="11520000" cy="720000"/>
          </a:xfrm>
          <a:prstGeom prst="rect">
            <a:avLst/>
          </a:prstGeom>
          <a:solidFill>
            <a:srgbClr val="F5F3FF"/>
          </a:solidFill>
        </p:spPr>
        <p:txBody>
          <a:bodyPr/>
          <a:lstStyle/>
          <a:p>
            <a:r>
              <a:rPr lang="en-US" sz="1200" b="0">
                <a:solidFill>
                  <a:srgbClr val="1F2937"/>
                </a:solidFill>
              </a:rPr>
              <a:t>Before 5G: p1–p10 (10 plans). After 5G: p1–p7, p11–p13 (10 plans). Three plans retired (p8, p9, p10), three new plans introduced (p11, p12, p13). This is a clean portfolio refresh — the bottom 3 plans by revenue were swapped for new 5G-era plans. Combined revenue of new plans (p11+p12+p13) after 5G exceeds retired plans (p8+p9+p10) by a healthy margin.</a:t>
            </a:r>
          </a:p>
        </p:txBody>
      </p:sp>
      <p:sp>
        <p:nvSpPr>
          <p:cNvPr id="100133" name="Insight4Title"/>
          <p:cNvSpPr txBox="1"/>
          <p:nvPr/>
        </p:nvSpPr>
        <p:spPr>
          <a:xfrm>
            <a:off x="288000" y="4536000"/>
            <a:ext cx="11520000" cy="252000"/>
          </a:xfrm>
          <a:prstGeom prst="rect">
            <a:avLst/>
          </a:prstGeom>
          <a:noFill/>
        </p:spPr>
        <p:txBody>
          <a:bodyPr/>
          <a:lstStyle/>
          <a:p>
            <a:r>
              <a:rPr lang="en-US" sz="1400" b="1">
                <a:solidFill>
                  <a:srgbClr val="B91C1C"/>
                </a:solidFill>
              </a:rPr>
              <a:t>4. 12.6M Unsubscriptions — A Silent Crisis</a:t>
            </a:r>
          </a:p>
        </p:txBody>
      </p:sp>
      <p:sp>
        <p:nvSpPr>
          <p:cNvPr id="100134" name="Insight4Body"/>
          <p:cNvSpPr txBox="1"/>
          <p:nvPr/>
        </p:nvSpPr>
        <p:spPr>
          <a:xfrm>
            <a:off x="288000" y="4824000"/>
            <a:ext cx="11520000" cy="540000"/>
          </a:xfrm>
          <a:prstGeom prst="rect">
            <a:avLst/>
          </a:prstGeom>
          <a:solidFill>
            <a:srgbClr val="FEF2F2"/>
          </a:solidFill>
        </p:spPr>
        <p:txBody>
          <a:bodyPr/>
          <a:lstStyle/>
          <a:p>
            <a:r>
              <a:rPr lang="en-US" sz="1200" b="0">
                <a:solidFill>
                  <a:srgbClr val="1F2937"/>
                </a:solidFill>
              </a:rPr>
              <a:t>12.6M unsubscribed users represents ~7.8% of the 161.7M active base — a significant churn figure. If not arrested, this will compound into a major revenue problem in 6–12 months. Majority likely in declining cities (Delhi, Chennai) and on discontinued/legacy plans.</a:t>
            </a:r>
          </a:p>
        </p:txBody>
      </p:sp>
      <p:sp>
        <p:nvSpPr>
          <p:cNvPr id="100135" name="Insight5"/>
          <p:cNvSpPr txBox="1"/>
          <p:nvPr/>
        </p:nvSpPr>
        <p:spPr>
          <a:xfrm>
            <a:off x="288000" y="5436000"/>
            <a:ext cx="11520000" cy="432000"/>
          </a:xfrm>
          <a:prstGeom prst="rect">
            <a:avLst/>
          </a:prstGeom>
          <a:solidFill>
            <a:srgbClr val="4C1D95"/>
          </a:solidFill>
        </p:spPr>
        <p:txBody>
          <a:bodyPr/>
          <a:lstStyle/>
          <a:p>
            <a:r>
              <a:rPr lang="en-US" sz="1200" b="1">
                <a:solidFill>
                  <a:srgbClr val="FFFFFF"/>
                </a:solidFill>
              </a:rPr>
              <a:t>5. Tier-2 City Opportunity: Lucknow (+1.82%), Patna (+1.48%), Gurgaon (+1.51%) are outperforming all metros — 5G is resonating more in Tier-2 cities where it is a genuine leap in connectivity.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36" name="HeaderBG"/>
          <p:cNvSpPr txBox="1"/>
          <p:nvPr/>
        </p:nvSpPr>
        <p:spPr>
          <a:xfrm>
            <a:off x="0" y="0"/>
            <a:ext cx="12193200" cy="1152000"/>
          </a:xfrm>
          <a:prstGeom prst="rect">
            <a:avLst/>
          </a:prstGeom>
          <a:solidFill>
            <a:srgbClr val="3D1466"/>
          </a:solidFill>
        </p:spPr>
        <p:txBody>
          <a:bodyPr/>
          <a:lstStyle/>
          <a:p>
            <a:endParaRPr lang="en-US" sz="1000">
              <a:solidFill>
                <a:srgbClr val="3D1466"/>
              </a:solidFill>
            </a:endParaRPr>
          </a:p>
        </p:txBody>
      </p:sp>
      <p:sp>
        <p:nvSpPr>
          <p:cNvPr id="100137" name="SlideNum"/>
          <p:cNvSpPr txBox="1"/>
          <p:nvPr/>
        </p:nvSpPr>
        <p:spPr>
          <a:xfrm>
            <a:off x="288000" y="288000"/>
            <a:ext cx="720000" cy="540000"/>
          </a:xfrm>
          <a:prstGeom prst="rect">
            <a:avLst/>
          </a:prstGeom>
          <a:noFill/>
        </p:spPr>
        <p:txBody>
          <a:bodyPr/>
          <a:lstStyle/>
          <a:p>
            <a:r>
              <a:rPr lang="en-US" sz="2800" b="1">
                <a:solidFill>
                  <a:srgbClr val="C084FC"/>
                </a:solidFill>
              </a:rPr>
              <a:t>09</a:t>
            </a:r>
          </a:p>
        </p:txBody>
      </p:sp>
      <p:sp>
        <p:nvSpPr>
          <p:cNvPr id="100138" name="Title"/>
          <p:cNvSpPr txBox="1"/>
          <p:nvPr/>
        </p:nvSpPr>
        <p:spPr>
          <a:xfrm>
            <a:off x="1260000" y="252000"/>
            <a:ext cx="9360000" cy="648000"/>
          </a:xfrm>
          <a:prstGeom prst="rect">
            <a:avLst/>
          </a:prstGeom>
          <a:noFill/>
        </p:spPr>
        <p:txBody>
          <a:bodyPr/>
          <a:lstStyle/>
          <a:p>
            <a:r>
              <a:rPr lang="en-US" sz="3000" b="1">
                <a:solidFill>
                  <a:srgbClr val="FFFFFF"/>
                </a:solidFill>
              </a:rPr>
              <a:t>Strategic Recommendations</a:t>
            </a:r>
          </a:p>
        </p:txBody>
      </p:sp>
      <p:sp>
        <p:nvSpPr>
          <p:cNvPr id="100139" name="Subtitle"/>
          <p:cNvSpPr txBox="1"/>
          <p:nvPr/>
        </p:nvSpPr>
        <p:spPr>
          <a:xfrm>
            <a:off x="1260000" y="792000"/>
            <a:ext cx="9360000" cy="324000"/>
          </a:xfrm>
          <a:prstGeom prst="rect">
            <a:avLst/>
          </a:prstGeom>
          <a:noFill/>
        </p:spPr>
        <p:txBody>
          <a:bodyPr/>
          <a:lstStyle/>
          <a:p>
            <a:r>
              <a:rPr lang="en-US" sz="1400" b="0">
                <a:solidFill>
                  <a:srgbClr val="C084FC"/>
                </a:solidFill>
              </a:rPr>
              <a:t>Actions for Q3/Q4 to reverse the -0.50% revenue decline</a:t>
            </a:r>
          </a:p>
        </p:txBody>
      </p:sp>
      <p:sp>
        <p:nvSpPr>
          <p:cNvPr id="100140" name="Rec1Box"/>
          <p:cNvSpPr txBox="1"/>
          <p:nvPr/>
        </p:nvSpPr>
        <p:spPr>
          <a:xfrm>
            <a:off x="288000" y="1368000"/>
            <a:ext cx="5580000" cy="1620000"/>
          </a:xfrm>
          <a:prstGeom prst="rect">
            <a:avLst/>
          </a:prstGeom>
          <a:solidFill>
            <a:srgbClr val="EDE9FE"/>
          </a:solidFill>
        </p:spPr>
        <p:txBody>
          <a:bodyPr/>
          <a:lstStyle/>
          <a:p>
            <a:r>
              <a:rPr lang="en-US" sz="1300" b="0" dirty="0">
                <a:solidFill>
                  <a:srgbClr val="1F2937"/>
                </a:solidFill>
              </a:rPr>
              <a:t>1. BOOST ARPU</a:t>
            </a:r>
          </a:p>
          <a:p>
            <a:endParaRPr lang="en-US" sz="1300" b="0" dirty="0">
              <a:solidFill>
                <a:srgbClr val="1F2937"/>
              </a:solidFill>
            </a:endParaRPr>
          </a:p>
          <a:p>
            <a:r>
              <a:rPr lang="en-US" sz="1300" b="0" dirty="0">
                <a:solidFill>
                  <a:srgbClr val="1F2937"/>
                </a:solidFill>
              </a:rPr>
              <a:t>Launch 5G upgrade campaigns targeting p2 (Super </a:t>
            </a:r>
            <a:r>
              <a:rPr lang="en-US" sz="1300" b="0" dirty="0" err="1">
                <a:solidFill>
                  <a:srgbClr val="1F2937"/>
                </a:solidFill>
              </a:rPr>
              <a:t>Saviour</a:t>
            </a:r>
            <a:r>
              <a:rPr lang="en-US" sz="1300" b="0" dirty="0">
                <a:solidFill>
                  <a:srgbClr val="1F2937"/>
                </a:solidFill>
              </a:rPr>
              <a:t>) subscribers. Offer ₹50–₹100 discount on first month of p11/p12 to convert 4G users. Target ARPU of ₹220+ within 2 quarters.</a:t>
            </a:r>
          </a:p>
        </p:txBody>
      </p:sp>
      <p:sp>
        <p:nvSpPr>
          <p:cNvPr id="100141" name="Rec1Icon"/>
          <p:cNvSpPr txBox="1"/>
          <p:nvPr/>
        </p:nvSpPr>
        <p:spPr>
          <a:xfrm>
            <a:off x="88620" y="1260000"/>
            <a:ext cx="255140" cy="360000"/>
          </a:xfrm>
          <a:prstGeom prst="rect">
            <a:avLst/>
          </a:prstGeom>
          <a:noFill/>
        </p:spPr>
        <p:txBody>
          <a:bodyPr/>
          <a:lstStyle/>
          <a:p>
            <a:r>
              <a:rPr lang="en-US" sz="1800">
                <a:solidFill>
                  <a:srgbClr val="7C3AED"/>
                </a:solidFill>
              </a:rPr>
              <a:t>💰</a:t>
            </a:r>
          </a:p>
        </p:txBody>
      </p:sp>
      <p:sp>
        <p:nvSpPr>
          <p:cNvPr id="100142" name="Rec2Box"/>
          <p:cNvSpPr txBox="1"/>
          <p:nvPr/>
        </p:nvSpPr>
        <p:spPr>
          <a:xfrm>
            <a:off x="6300000" y="1368000"/>
            <a:ext cx="5580000" cy="1620000"/>
          </a:xfrm>
          <a:prstGeom prst="rect">
            <a:avLst/>
          </a:prstGeom>
          <a:solidFill>
            <a:srgbClr val="EDE9FE"/>
          </a:solidFill>
        </p:spPr>
        <p:txBody>
          <a:bodyPr/>
          <a:lstStyle/>
          <a:p>
            <a:r>
              <a:rPr lang="en-US" sz="1300" b="0">
                <a:solidFill>
                  <a:srgbClr val="1F2937"/>
                </a:solidFill>
              </a:rPr>
              <a:t>2. ARREST CHURN (12.6M Unsubscribed)</a:t>
            </a:r>
          </a:p>
          <a:p>
            <a:endParaRPr lang="en-US" sz="1300" b="0">
              <a:solidFill>
                <a:srgbClr val="1F2937"/>
              </a:solidFill>
            </a:endParaRPr>
          </a:p>
          <a:p>
            <a:r>
              <a:rPr lang="en-US" sz="1300" b="0">
                <a:solidFill>
                  <a:srgbClr val="1F2937"/>
                </a:solidFill>
              </a:rPr>
              <a:t>Immediate win-back campaign for the 12.6M churned users. Offer 30-day free 5G trial. Focus on Delhi and Chennai which have highest revenue losses. Reduce TUsU to &lt;8M by Q4.</a:t>
            </a:r>
          </a:p>
        </p:txBody>
      </p:sp>
      <p:sp>
        <p:nvSpPr>
          <p:cNvPr id="100143" name="Rec3Box"/>
          <p:cNvSpPr txBox="1"/>
          <p:nvPr/>
        </p:nvSpPr>
        <p:spPr>
          <a:xfrm>
            <a:off x="288000" y="3240000"/>
            <a:ext cx="5580000" cy="1620000"/>
          </a:xfrm>
          <a:prstGeom prst="rect">
            <a:avLst/>
          </a:prstGeom>
          <a:solidFill>
            <a:srgbClr val="FEF2F2"/>
          </a:solidFill>
        </p:spPr>
        <p:txBody>
          <a:bodyPr/>
          <a:lstStyle/>
          <a:p>
            <a:r>
              <a:rPr lang="en-US" sz="1300" b="0">
                <a:solidFill>
                  <a:srgbClr val="1F2937"/>
                </a:solidFill>
              </a:rPr>
              <a:t>3. DEFEND DELHI &amp; CHENNAI</a:t>
            </a:r>
          </a:p>
          <a:p>
            <a:endParaRPr lang="en-US" sz="1300" b="0">
              <a:solidFill>
                <a:srgbClr val="1F2937"/>
              </a:solidFill>
            </a:endParaRPr>
          </a:p>
          <a:p>
            <a:r>
              <a:rPr lang="en-US" sz="1300" b="0">
                <a:solidFill>
                  <a:srgbClr val="1F2937"/>
                </a:solidFill>
              </a:rPr>
              <a:t>Conduct competitive analysis of rival 5G pricing in Delhi (−2.83%) and Chennai (−2.59%). Consider city-specific promotional pricing. Investigate if infrastructure gaps are driving churn — accelerate 5G tower rollout in these markets.</a:t>
            </a:r>
          </a:p>
        </p:txBody>
      </p:sp>
      <p:sp>
        <p:nvSpPr>
          <p:cNvPr id="100144" name="Rec4Box"/>
          <p:cNvSpPr txBox="1"/>
          <p:nvPr/>
        </p:nvSpPr>
        <p:spPr>
          <a:xfrm>
            <a:off x="6300000" y="3240000"/>
            <a:ext cx="5580000" cy="1620000"/>
          </a:xfrm>
          <a:prstGeom prst="rect">
            <a:avLst/>
          </a:prstGeom>
          <a:solidFill>
            <a:srgbClr val="DCFCE7"/>
          </a:solidFill>
        </p:spPr>
        <p:txBody>
          <a:bodyPr/>
          <a:lstStyle/>
          <a:p>
            <a:r>
              <a:rPr lang="en-US" sz="1300" b="0">
                <a:solidFill>
                  <a:srgbClr val="1F2937"/>
                </a:solidFill>
              </a:rPr>
              <a:t>4. DOUBLE DOWN ON TIER-2 CITIES</a:t>
            </a:r>
          </a:p>
          <a:p>
            <a:endParaRPr lang="en-US" sz="1300" b="0">
              <a:solidFill>
                <a:srgbClr val="1F2937"/>
              </a:solidFill>
            </a:endParaRPr>
          </a:p>
          <a:p>
            <a:r>
              <a:rPr lang="en-US" sz="1300" b="0">
                <a:solidFill>
                  <a:srgbClr val="1F2937"/>
                </a:solidFill>
              </a:rPr>
              <a:t>Lucknow (+1.82%), Gurgaon (+1.51%), Patna (+1.48%) are the growth engines. Increase 5G network investment in these markets. Launch Tier-2 specific plans with regional pricing to capture volume growth.</a:t>
            </a:r>
          </a:p>
        </p:txBody>
      </p:sp>
      <p:sp>
        <p:nvSpPr>
          <p:cNvPr id="100145" name="Rec5Box"/>
          <p:cNvSpPr txBox="1"/>
          <p:nvPr/>
        </p:nvSpPr>
        <p:spPr>
          <a:xfrm>
            <a:off x="288000" y="5112000"/>
            <a:ext cx="5580000" cy="1080000"/>
          </a:xfrm>
          <a:prstGeom prst="rect">
            <a:avLst/>
          </a:prstGeom>
          <a:solidFill>
            <a:srgbClr val="FFFBEB"/>
          </a:solidFill>
        </p:spPr>
        <p:txBody>
          <a:bodyPr/>
          <a:lstStyle/>
          <a:p>
            <a:r>
              <a:rPr lang="en-US" sz="1300" b="0">
                <a:solidFill>
                  <a:srgbClr val="1F2937"/>
                </a:solidFill>
              </a:rPr>
              <a:t>5. SUNSET p7 LEGACY PLAN PROPERLY</a:t>
            </a:r>
          </a:p>
          <a:p>
            <a:endParaRPr lang="en-US" sz="1300" b="0">
              <a:solidFill>
                <a:srgbClr val="1F2937"/>
              </a:solidFill>
            </a:endParaRPr>
          </a:p>
          <a:p>
            <a:r>
              <a:rPr lang="en-US" sz="1300" b="0">
                <a:solidFill>
                  <a:srgbClr val="1F2937"/>
                </a:solidFill>
              </a:rPr>
              <a:t>p7 dropped 77% after 5G launch. Define a sunset timeline (3–6 months). Migrate remaining p7 users to p11/p12 with migration incentives. Free up operational resources from maintaining a dying plan.</a:t>
            </a:r>
          </a:p>
        </p:txBody>
      </p:sp>
      <p:sp>
        <p:nvSpPr>
          <p:cNvPr id="100146" name="Rec6Box"/>
          <p:cNvSpPr txBox="1"/>
          <p:nvPr/>
        </p:nvSpPr>
        <p:spPr>
          <a:xfrm>
            <a:off x="6300000" y="5112000"/>
            <a:ext cx="5580000" cy="1080000"/>
          </a:xfrm>
          <a:prstGeom prst="rect">
            <a:avLst/>
          </a:prstGeom>
          <a:solidFill>
            <a:srgbClr val="DCFCE7"/>
          </a:solidFill>
        </p:spPr>
        <p:txBody>
          <a:bodyPr/>
          <a:lstStyle/>
          <a:p>
            <a:r>
              <a:rPr lang="en-US" sz="1300" b="0">
                <a:solidFill>
                  <a:srgbClr val="1F2937"/>
                </a:solidFill>
              </a:rPr>
              <a:t>6. ACCELERATE p11 &amp; p12 ADOPTION</a:t>
            </a:r>
          </a:p>
          <a:p>
            <a:endParaRPr lang="en-US" sz="1300" b="0">
              <a:solidFill>
                <a:srgbClr val="1F2937"/>
              </a:solidFill>
            </a:endParaRPr>
          </a:p>
          <a:p>
            <a:r>
              <a:rPr lang="en-US" sz="1300" b="0">
                <a:solidFill>
                  <a:srgbClr val="1F2937"/>
                </a:solidFill>
              </a:rPr>
              <a:t>p11 and p12 are the new 5G anchors — combined ₹900M+/month after 5G. Invest in marketing these plans. These two plans need to hit ₹1.5bn combined to offset legacy plan revenue losses.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3D1466"/>
        </a:solidFill>
        <a:effectLst/>
      </p:bgPr>
    </p:bg>
    <p:spTree>
      <p:nvGrpSpPr>
        <p:cNvPr id="1" name=""/>
        <p:cNvGrpSpPr/>
        <p:nvPr/>
      </p:nvGrpSpPr>
      <p:grpSpPr>
        <a:xfrm>
          <a:off x="0" y="0"/>
          <a:ext cx="0" cy="0"/>
          <a:chOff x="0" y="0"/>
          <a:chExt cx="0" cy="0"/>
        </a:xfrm>
      </p:grpSpPr>
      <p:sp>
        <p:nvSpPr>
          <p:cNvPr id="100147" name="Divider"/>
          <p:cNvSpPr txBox="1"/>
          <p:nvPr/>
        </p:nvSpPr>
        <p:spPr>
          <a:xfrm>
            <a:off x="1440000" y="1980000"/>
            <a:ext cx="9360000" cy="54000"/>
          </a:xfrm>
          <a:prstGeom prst="rect">
            <a:avLst/>
          </a:prstGeom>
          <a:solidFill>
            <a:srgbClr val="C084FC"/>
          </a:solidFill>
        </p:spPr>
        <p:txBody>
          <a:bodyPr/>
          <a:lstStyle/>
          <a:p>
            <a:endParaRPr lang="en-US" sz="1000">
              <a:solidFill>
                <a:srgbClr val="C084FC"/>
              </a:solidFill>
            </a:endParaRPr>
          </a:p>
        </p:txBody>
      </p:sp>
      <p:sp>
        <p:nvSpPr>
          <p:cNvPr id="100148" name="ThankYou"/>
          <p:cNvSpPr txBox="1"/>
          <p:nvPr/>
        </p:nvSpPr>
        <p:spPr>
          <a:xfrm>
            <a:off x="720000" y="2160000"/>
            <a:ext cx="10440000" cy="1080000"/>
          </a:xfrm>
          <a:prstGeom prst="rect">
            <a:avLst/>
          </a:prstGeom>
          <a:noFill/>
        </p:spPr>
        <p:txBody>
          <a:bodyPr/>
          <a:lstStyle/>
          <a:p>
            <a:pPr algn="ctr"/>
            <a:r>
              <a:rPr lang="en-US" sz="5400" b="1">
                <a:solidFill>
                  <a:srgbClr val="FFFFFF"/>
                </a:solidFill>
              </a:rPr>
              <a:t>Thank You</a:t>
            </a:r>
          </a:p>
        </p:txBody>
      </p:sp>
      <p:sp>
        <p:nvSpPr>
          <p:cNvPr id="100149" name="Tagline"/>
          <p:cNvSpPr txBox="1"/>
          <p:nvPr/>
        </p:nvSpPr>
        <p:spPr>
          <a:xfrm>
            <a:off x="720000" y="3420000"/>
            <a:ext cx="10440000" cy="360000"/>
          </a:xfrm>
          <a:prstGeom prst="rect">
            <a:avLst/>
          </a:prstGeom>
          <a:noFill/>
        </p:spPr>
        <p:txBody>
          <a:bodyPr/>
          <a:lstStyle/>
          <a:p>
            <a:pPr algn="ctr"/>
            <a:r>
              <a:rPr lang="en-US" sz="1400" b="0">
                <a:solidFill>
                  <a:srgbClr val="C084FC"/>
                </a:solidFill>
              </a:rPr>
              <a:t>Wavecon Telecom  |  5G Impact Analysis  |  Prepared by Business Intelligence Team</a:t>
            </a:r>
          </a:p>
        </p:txBody>
      </p:sp>
      <p:sp>
        <p:nvSpPr>
          <p:cNvPr id="100150" name="Summary1"/>
          <p:cNvSpPr txBox="1"/>
          <p:nvPr/>
        </p:nvSpPr>
        <p:spPr>
          <a:xfrm>
            <a:off x="720000" y="3960000"/>
            <a:ext cx="10440000" cy="360000"/>
          </a:xfrm>
          <a:prstGeom prst="rect">
            <a:avLst/>
          </a:prstGeom>
          <a:noFill/>
        </p:spPr>
        <p:txBody>
          <a:bodyPr/>
          <a:lstStyle/>
          <a:p>
            <a:pPr algn="ctr"/>
            <a:r>
              <a:rPr lang="en-US" sz="1400" b="0">
                <a:solidFill>
                  <a:srgbClr val="A78BFA"/>
                </a:solidFill>
              </a:rPr>
              <a:t>Revenue Impact: −0.50%  |  ARPU: ₹200.7  |  Churned Users: 12.6M</a:t>
            </a:r>
          </a:p>
        </p:txBody>
      </p:sp>
      <p:sp>
        <p:nvSpPr>
          <p:cNvPr id="100151" name="Summary2"/>
          <p:cNvSpPr txBox="1"/>
          <p:nvPr/>
        </p:nvSpPr>
        <p:spPr>
          <a:xfrm>
            <a:off x="720000" y="4392000"/>
            <a:ext cx="10440000" cy="360000"/>
          </a:xfrm>
          <a:prstGeom prst="rect">
            <a:avLst/>
          </a:prstGeom>
          <a:noFill/>
        </p:spPr>
        <p:txBody>
          <a:bodyPr/>
          <a:lstStyle/>
          <a:p>
            <a:pPr algn="ctr"/>
            <a:r>
              <a:rPr lang="en-US" sz="1400" b="0">
                <a:solidFill>
                  <a:srgbClr val="A78BFA"/>
                </a:solidFill>
              </a:rPr>
              <a:t>Top Plans: p1, p11, p12  |  Worst Hit: p7 (−77%)  |  Discontinued: p8, p9, p10</a:t>
            </a:r>
          </a:p>
        </p:txBody>
      </p:sp>
      <p:sp>
        <p:nvSpPr>
          <p:cNvPr id="100152" name="Summary3"/>
          <p:cNvSpPr txBox="1"/>
          <p:nvPr/>
        </p:nvSpPr>
        <p:spPr>
          <a:xfrm>
            <a:off x="720000" y="4824000"/>
            <a:ext cx="10440000" cy="360000"/>
          </a:xfrm>
          <a:prstGeom prst="rect">
            <a:avLst/>
          </a:prstGeom>
          <a:noFill/>
        </p:spPr>
        <p:txBody>
          <a:bodyPr/>
          <a:lstStyle/>
          <a:p>
            <a:pPr algn="ctr"/>
            <a:r>
              <a:rPr lang="en-US" sz="1400" b="0">
                <a:solidFill>
                  <a:srgbClr val="A78BFA"/>
                </a:solidFill>
              </a:rPr>
              <a:t>Best City: Lucknow (+1.82%)  |  Worst City: Delhi (−2.83%)</a:t>
            </a:r>
          </a:p>
        </p:txBody>
      </p:sp>
      <p:sp>
        <p:nvSpPr>
          <p:cNvPr id="100153" name="Divider2"/>
          <p:cNvSpPr txBox="1"/>
          <p:nvPr/>
        </p:nvSpPr>
        <p:spPr>
          <a:xfrm>
            <a:off x="1440000" y="5328000"/>
            <a:ext cx="9360000" cy="36000"/>
          </a:xfrm>
          <a:prstGeom prst="rect">
            <a:avLst/>
          </a:prstGeom>
          <a:solidFill>
            <a:srgbClr val="7C3AED"/>
          </a:solidFill>
        </p:spPr>
        <p:txBody>
          <a:bodyPr/>
          <a:lstStyle/>
          <a:p>
            <a:endParaRPr lang="en-US" sz="1000">
              <a:solidFill>
                <a:srgbClr val="7C3AED"/>
              </a:solidFill>
            </a:endParaRPr>
          </a:p>
        </p:txBody>
      </p:sp>
      <p:sp>
        <p:nvSpPr>
          <p:cNvPr id="100154" name="SlideCount"/>
          <p:cNvSpPr txBox="1"/>
          <p:nvPr/>
        </p:nvSpPr>
        <p:spPr>
          <a:xfrm>
            <a:off x="720000" y="5544000"/>
            <a:ext cx="10440000" cy="288000"/>
          </a:xfrm>
          <a:prstGeom prst="rect">
            <a:avLst/>
          </a:prstGeom>
          <a:noFill/>
        </p:spPr>
        <p:txBody>
          <a:bodyPr/>
          <a:lstStyle/>
          <a:p>
            <a:pPr algn="ctr"/>
            <a:r>
              <a:rPr lang="en-US" sz="1100" b="0">
                <a:solidFill>
                  <a:srgbClr val="9CA3AF"/>
                </a:solidFill>
              </a:rPr>
              <a:t>10 Slides  |  Data Source: Wavecon Telecom Power BI Dashboard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2719</TotalTime>
  <Words>2873</Words>
  <Application>Microsoft Office PowerPoint</Application>
  <PresentationFormat>Widescreen</PresentationFormat>
  <Paragraphs>255</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OfficeCLI</dc:creator>
  <cp:lastModifiedBy>Aniketh</cp:lastModifiedBy>
  <cp:revision>2</cp:revision>
  <dcterms:created xsi:type="dcterms:W3CDTF">2026-10-09T08:26:49Z</dcterms:created>
  <dcterms:modified xsi:type="dcterms:W3CDTF">2026-10-11T06:03:43Z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ceCLI.Version">
    <vt:lpwstr>1.0.155</vt:lpwstr>
  </property>
  <property fmtid="{D5CDD505-2E9C-101B-9397-08002B2CF9AE}" pid="3" name="OfficeCLI.LastModified">
    <vt:lpwstr>2026-10-09T08:32:50Z</vt:lpwstr>
  </property>
</Properties>
</file>